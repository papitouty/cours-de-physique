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Électricité • Chapitre 2 — Champ et potentiel électrostatiques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0" y="6446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 • Dr P. T. Traoré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"/>
            <a:ext cx="822960" cy="9144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UFR Sciences • Licence 1 • Électricité : électrostatique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65960" y="2834640"/>
            <a:ext cx="822960" cy="822960"/>
          </a:xfrm>
          <a:prstGeom prst="ellipse">
            <a:avLst/>
          </a:prstGeom>
          <a:ln w="13970">
            <a:solidFill>
              <a:srgbClr val="7FB8C4">
                <a:alpha val="85000"/>
              </a:srgbClr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691640" y="2560320"/>
            <a:ext cx="1371600" cy="1371600"/>
          </a:xfrm>
          <a:prstGeom prst="ellipse">
            <a:avLst/>
          </a:prstGeom>
          <a:ln w="13970">
            <a:solidFill>
              <a:srgbClr val="7FB8C4">
                <a:alpha val="65000"/>
              </a:srgbClr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417320" y="2286000"/>
            <a:ext cx="1920240" cy="1920240"/>
          </a:xfrm>
          <a:prstGeom prst="ellipse">
            <a:avLst/>
          </a:prstGeom>
          <a:ln w="13970">
            <a:solidFill>
              <a:srgbClr val="7FB8C4">
                <a:alpha val="45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743200" y="3246120"/>
            <a:ext cx="960120" cy="914"/>
          </a:xfrm>
          <a:prstGeom prst="line">
            <a:avLst/>
          </a:prstGeom>
          <a:noFill/>
          <a:ln w="254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2636071" y="2308581"/>
            <a:ext cx="678907" cy="678907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2377440" y="1920240"/>
            <a:ext cx="914" cy="960120"/>
          </a:xfrm>
          <a:prstGeom prst="line">
            <a:avLst/>
          </a:prstGeom>
          <a:noFill/>
          <a:ln w="254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H="1" flipV="1">
            <a:off x="1439901" y="2308581"/>
            <a:ext cx="678907" cy="678907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1051560" y="3246120"/>
            <a:ext cx="960120" cy="914"/>
          </a:xfrm>
          <a:prstGeom prst="line">
            <a:avLst/>
          </a:prstGeom>
          <a:noFill/>
          <a:ln w="254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1439901" y="3504751"/>
            <a:ext cx="678907" cy="678907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H="1">
            <a:off x="2377440" y="3611880"/>
            <a:ext cx="0" cy="960120"/>
          </a:xfrm>
          <a:prstGeom prst="line">
            <a:avLst/>
          </a:prstGeom>
          <a:noFill/>
          <a:ln w="254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636071" y="3504751"/>
            <a:ext cx="678907" cy="678907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103120" y="2971800"/>
            <a:ext cx="548640" cy="54864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0312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+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D98E04"/>
                </a:solidFill>
              </a:rPr>
              <a:t>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4114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FB8C4"/>
                </a:solidFill>
              </a:rPr>
              <a:t>V = cte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9" name="Text 67"/>
          <p:cNvSpPr txBox="1"/>
          <p:nvPr/>
        </p:nvSpPr>
        <p:spPr>
          <a:xfrm>
            <a:off x="457200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COURS</a:t>
            </a:r>
            <a:endParaRPr lang="en-US" sz="1500" dirty="0"/>
          </a:p>
        </p:txBody>
      </p:sp>
      <p:sp>
        <p:nvSpPr>
          <p:cNvPr id="70" name="Text 68"/>
          <p:cNvSpPr txBox="1"/>
          <p:nvPr/>
        </p:nvSpPr>
        <p:spPr>
          <a:xfrm>
            <a:off x="4572000" y="24231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2</a:t>
            </a:r>
            <a:endParaRPr lang="en-US" sz="2600" dirty="0"/>
          </a:p>
        </p:txBody>
      </p:sp>
      <p:sp>
        <p:nvSpPr>
          <p:cNvPr id="71" name="Text 69"/>
          <p:cNvSpPr txBox="1"/>
          <p:nvPr/>
        </p:nvSpPr>
        <p:spPr>
          <a:xfrm>
            <a:off x="45720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et potentiel électrostatiques</a:t>
            </a:r>
            <a:endParaRPr lang="en-US" sz="4000" dirty="0"/>
          </a:p>
        </p:txBody>
      </p:sp>
      <p:sp>
        <p:nvSpPr>
          <p:cNvPr id="72" name="Text 70"/>
          <p:cNvSpPr txBox="1"/>
          <p:nvPr/>
        </p:nvSpPr>
        <p:spPr>
          <a:xfrm>
            <a:off x="4572000" y="4343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 • Démonstrations détaillées • Figures • Synthèse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640080" y="49834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26395A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22960" y="49834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Enseignant-Chercheur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universitaire 2026 – 2027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et potentiel électrostatiques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332720" y="4572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400800" cy="4206240"/>
          </a:xfrm>
          <a:prstGeom prst="rect">
            <a:avLst/>
          </a:prstGeom>
          <a:solidFill>
            <a:srgbClr val="EEF4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6400800" cy="4114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du chapitre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Définir le champ et le potentiel ; relier travail, potentiel et énergie potentielle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E et V pour une ou plusieurs charges ponctuelles et pour une distribution continue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E = − grad V ; définir l'angle solide et le flux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Énoncer et appliquer le théorème de Gauss ; écrire les équations de Poisson et de Laplace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4434840" cy="4206240"/>
          </a:xfrm>
          <a:prstGeom prst="rect">
            <a:avLst/>
          </a:prstGeom>
          <a:solidFill>
            <a:srgbClr val="FDF3E1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828800"/>
            <a:ext cx="4434840" cy="41148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828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377440"/>
            <a:ext cx="4069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 : loi de Coulomb, superposition, densités de charge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scalaire, gradient ; coordonnées sphériques et cylindriques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Dérivées partielles, intégrales, changements de variable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du chapitre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électrostatique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potentiel électrostatique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et potentiel créés par plusieurs charges ponctuelles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593592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73075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73075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59359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et potentiel créés par une distribution continue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379976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4517136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51713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379976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solide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 du champ et théorème de Gauss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1792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764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Propriétés du champ et du potentiel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792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764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2764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 locale : équations de Poisson et de Laplace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17920" y="3593592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27648" y="373075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27648" y="373075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359359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électrostatique</a:t>
            </a:r>
            <a:endParaRPr lang="en-US" sz="2600" dirty="0"/>
          </a:p>
        </p:txBody>
      </p:sp>
      <p:pic>
        <p:nvPicPr>
          <p:cNvPr id="5" name="Image 0" descr="2.1 Le champ électrosta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électrostatique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 Le champ électrosta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électrostatique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 Le champ électrosta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potentiel électrostatique</a:t>
            </a:r>
            <a:endParaRPr lang="en-US" sz="2600" dirty="0"/>
          </a:p>
        </p:txBody>
      </p:sp>
      <p:pic>
        <p:nvPicPr>
          <p:cNvPr id="5" name="Image 0" descr="2.2 Le potentiel électrosta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potentiel électrostatique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Le potentiel électrosta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potentiel électrostatique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Le potentiel électrosta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potentiel électrostatique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Le potentiel électrosta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potentiel électrostatique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Le potentiel électrosta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et potentiel créés par plusieurs charges ponctuelles</a:t>
            </a:r>
            <a:endParaRPr lang="en-US" sz="2000" dirty="0"/>
          </a:p>
        </p:txBody>
      </p:sp>
      <p:pic>
        <p:nvPicPr>
          <p:cNvPr id="5" name="Image 0" descr="2.3 Champ et potentiel créés par plusieurs charges ponctu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et potentiel créés par plusieurs charges ponctuelles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2.3 Champ et potentiel créés par plusieurs charges ponctu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et potentiel créés par une distribution continue</a:t>
            </a:r>
            <a:endParaRPr lang="en-US" sz="2000" dirty="0"/>
          </a:p>
        </p:txBody>
      </p:sp>
      <p:pic>
        <p:nvPicPr>
          <p:cNvPr id="5" name="Image 0" descr="2.4 Champ et potentiel créés par une distribution contin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solide</a:t>
            </a:r>
            <a:endParaRPr lang="en-US" sz="2600" dirty="0"/>
          </a:p>
        </p:txBody>
      </p:sp>
      <p:pic>
        <p:nvPicPr>
          <p:cNvPr id="5" name="Image 0" descr="2.5 Angle sol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solide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Angle sol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solide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Angle sol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 du champ et théorème de Gauss</a:t>
            </a:r>
            <a:endParaRPr lang="en-US" sz="2600" dirty="0"/>
          </a:p>
        </p:txBody>
      </p:sp>
      <p:pic>
        <p:nvPicPr>
          <p:cNvPr id="5" name="Image 0" descr="2.6 Flux du champ et théorème de 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 du champ et théorème de Gauss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Flux du champ et théorème de 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 du champ et théorème de Gauss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Flux du champ et théorème de 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 du champ et théorème de Gauss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Flux du champ et théorème de 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Propriétés du champ et du potentiel</a:t>
            </a:r>
            <a:endParaRPr lang="en-US" sz="2600" dirty="0"/>
          </a:p>
        </p:txBody>
      </p:sp>
      <p:pic>
        <p:nvPicPr>
          <p:cNvPr id="5" name="Image 0" descr="2.7 Propriétés du champ et du potent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Propriétés du champ et du potentiel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7 Propriétés du champ et du potent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Propriétés du champ et du potentiel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7 Propriétés du champ et du potent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 locale : équations de Poisson et de Laplace</a:t>
            </a:r>
            <a:endParaRPr lang="en-US" sz="2600" dirty="0"/>
          </a:p>
        </p:txBody>
      </p:sp>
      <p:pic>
        <p:nvPicPr>
          <p:cNvPr id="5" name="Image 0" descr="2.8 Forme locale : équations de Poisson et de Lapl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 locale : équations de Poisson et de Laplace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Forme locale : équations de Poisson et de Lapl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 locale : équations de Poisson et de Laplace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Forme locale : équations de Poisson et de Lapl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2600" dirty="0"/>
          </a:p>
        </p:txBody>
      </p:sp>
      <p:pic>
        <p:nvPicPr>
          <p:cNvPr id="5" name="Image 0" descr="2.9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73152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du chapitre 2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et potentiel électrostatiques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40233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 chapitre : Le dipôle électrostatique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73152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 — Université Souleymane Niang de Matam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Électricité — Chapitre 2 : Champ et potentiel électrostatiques</dc:title>
  <dc:subject>PptxGenJS Presentation</dc:subject>
  <dc:creator>Dr Papa Touty Traoré</dc:creator>
  <cp:lastModifiedBy>Dr Papa Touty Traoré</cp:lastModifiedBy>
  <cp:revision>1</cp:revision>
  <dcterms:created xsi:type="dcterms:W3CDTF">2026-10-14T22:31:59Z</dcterms:created>
  <dcterms:modified xsi:type="dcterms:W3CDTF">2026-10-14T22:31:59Z</dcterms:modified>
</cp:coreProperties>
</file>