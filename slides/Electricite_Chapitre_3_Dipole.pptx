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Électricité • Chapitre 3 — Le dipôle électrostatique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0" y="6446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Université Souleymane Niang de Matam • Dr P. T. Traoré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2920"/>
            <a:ext cx="822960" cy="91440"/>
          </a:xfrm>
          <a:prstGeom prst="rect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731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UNIVERSITÉ SOULEYMANE NIANG DE MATAM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UFR Sciences • Licence 1 • Électricité : électrostatique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463040" y="2994660"/>
            <a:ext cx="1737360" cy="502920"/>
          </a:xfrm>
          <a:prstGeom prst="ellipse">
            <a:avLst/>
          </a:prstGeom>
          <a:ln w="15240">
            <a:solidFill>
              <a:srgbClr val="7FB8C4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2788920"/>
            <a:ext cx="1737360" cy="914400"/>
          </a:xfrm>
          <a:prstGeom prst="ellipse">
            <a:avLst/>
          </a:prstGeom>
          <a:ln w="15240">
            <a:solidFill>
              <a:srgbClr val="7FB8C4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2537460"/>
            <a:ext cx="1737360" cy="1417320"/>
          </a:xfrm>
          <a:prstGeom prst="ellipse">
            <a:avLst/>
          </a:prstGeom>
          <a:ln w="15240">
            <a:solidFill>
              <a:srgbClr val="7FB8C4">
                <a:alpha val="5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63040" y="2240280"/>
            <a:ext cx="1737360" cy="2011680"/>
          </a:xfrm>
          <a:prstGeom prst="ellipse">
            <a:avLst/>
          </a:prstGeom>
          <a:ln w="15240">
            <a:solidFill>
              <a:srgbClr val="7FB8C4">
                <a:alpha val="3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7008" y="2990088"/>
            <a:ext cx="512064" cy="512064"/>
          </a:xfrm>
          <a:prstGeom prst="ellipse">
            <a:avLst/>
          </a:prstGeom>
          <a:solidFill>
            <a:srgbClr val="4FB3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07008" y="29900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2944368" y="2990088"/>
            <a:ext cx="512064" cy="512064"/>
          </a:xfrm>
          <a:prstGeom prst="ellipse">
            <a:avLst/>
          </a:prstGeom>
          <a:solidFill>
            <a:srgbClr val="D98E0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44368" y="29900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+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828800" y="4572000"/>
            <a:ext cx="1005840" cy="914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2148840" y="4617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FFFFFF"/>
                </a:solidFill>
              </a:rPr>
              <a:t>p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595360" y="3291840"/>
            <a:ext cx="292608" cy="9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595360" y="3794760"/>
            <a:ext cx="278287" cy="9042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595360" y="4297680"/>
            <a:ext cx="236725" cy="17199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595360" y="4800600"/>
            <a:ext cx="171991" cy="23672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595360" y="530352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595360" y="5806440"/>
            <a:ext cx="0" cy="29260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>
            <a:off x="8504939" y="630936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 flipV="1">
            <a:off x="9098280" y="3168179"/>
            <a:ext cx="265193" cy="1236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9098280" y="3759100"/>
            <a:ext cx="290427" cy="356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098280" y="4297680"/>
            <a:ext cx="287232" cy="5583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098280" y="4800600"/>
            <a:ext cx="255921" cy="1418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098280" y="5303520"/>
            <a:ext cx="199558" cy="21400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098280" y="5806440"/>
            <a:ext cx="123661" cy="2651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098280" y="6309360"/>
            <a:ext cx="35660" cy="29042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V="1">
            <a:off x="9601200" y="3067689"/>
            <a:ext cx="188085" cy="22415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V="1">
            <a:off x="9601200" y="3639701"/>
            <a:ext cx="248146" cy="1550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V="1">
            <a:off x="9601200" y="4226892"/>
            <a:ext cx="283916" cy="7078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601200" y="4800600"/>
            <a:ext cx="291895" cy="204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601200" y="5303520"/>
            <a:ext cx="271301" cy="10961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601200" y="5806440"/>
            <a:ext cx="224151" cy="1880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9601200" y="6309360"/>
            <a:ext cx="155059" cy="24814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 flipV="1">
            <a:off x="10104120" y="3009202"/>
            <a:ext cx="75733" cy="28263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 flipV="1">
            <a:off x="10104120" y="3549358"/>
            <a:ext cx="159366" cy="24540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V="1">
            <a:off x="10104120" y="4113536"/>
            <a:ext cx="227399" cy="18414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V="1">
            <a:off x="10104120" y="4695739"/>
            <a:ext cx="273173" cy="1048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10104120" y="5288206"/>
            <a:ext cx="292207" cy="153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10104120" y="5806440"/>
            <a:ext cx="282638" cy="757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0104120" y="6309360"/>
            <a:ext cx="245402" cy="1593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 flipV="1">
            <a:off x="10556229" y="3003677"/>
            <a:ext cx="50811" cy="2881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V="1">
            <a:off x="10607040" y="3505000"/>
            <a:ext cx="40723" cy="2897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V="1">
            <a:off x="10607040" y="4034686"/>
            <a:ext cx="128271" cy="26299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V="1">
            <a:off x="10607040" y="4590115"/>
            <a:ext cx="203263" cy="2104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 flipV="1">
            <a:off x="10607040" y="5166149"/>
            <a:ext cx="258358" cy="13737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 flipV="1">
            <a:off x="10607040" y="5755629"/>
            <a:ext cx="288163" cy="508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10607040" y="6309360"/>
            <a:ext cx="289760" cy="4072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 flipH="1" flipV="1">
            <a:off x="10942127" y="3052150"/>
            <a:ext cx="167833" cy="23969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11024410" y="3514938"/>
            <a:ext cx="85550" cy="27982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 flipV="1">
            <a:off x="11109960" y="4005117"/>
            <a:ext cx="5107" cy="2925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 flipV="1">
            <a:off x="11109960" y="4523934"/>
            <a:ext cx="95264" cy="2766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 flipV="1">
            <a:off x="11109960" y="5069833"/>
            <a:ext cx="176096" cy="2336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 flipV="1">
            <a:off x="11109960" y="5638607"/>
            <a:ext cx="239690" cy="1678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 flipV="1">
            <a:off x="11109960" y="6223810"/>
            <a:ext cx="279822" cy="855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 flipH="1" flipV="1">
            <a:off x="11359474" y="3145536"/>
            <a:ext cx="253406" cy="14630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 flipH="1" flipV="1">
            <a:off x="11417087" y="3577310"/>
            <a:ext cx="195793" cy="2174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 flipH="1" flipV="1">
            <a:off x="11493866" y="4030369"/>
            <a:ext cx="119014" cy="2673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 flipH="1" flipV="1">
            <a:off x="11582294" y="4509595"/>
            <a:ext cx="30586" cy="29100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612880" y="5017306"/>
            <a:ext cx="60837" cy="2862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 flipV="1">
            <a:off x="11612880" y="5553034"/>
            <a:ext cx="146304" cy="25340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 flipV="1">
            <a:off x="11612880" y="6113567"/>
            <a:ext cx="217450" cy="1957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4" name="Text 62"/>
          <p:cNvSpPr txBox="1"/>
          <p:nvPr/>
        </p:nvSpPr>
        <p:spPr>
          <a:xfrm>
            <a:off x="4572000" y="20116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DE COURS</a:t>
            </a:r>
            <a:endParaRPr lang="en-US" sz="1500" dirty="0"/>
          </a:p>
        </p:txBody>
      </p:sp>
      <p:sp>
        <p:nvSpPr>
          <p:cNvPr id="65" name="Text 63"/>
          <p:cNvSpPr txBox="1"/>
          <p:nvPr/>
        </p:nvSpPr>
        <p:spPr>
          <a:xfrm>
            <a:off x="4572000" y="24231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3</a:t>
            </a:r>
            <a:endParaRPr lang="en-US" sz="2600" dirty="0"/>
          </a:p>
        </p:txBody>
      </p:sp>
      <p:sp>
        <p:nvSpPr>
          <p:cNvPr id="66" name="Text 64"/>
          <p:cNvSpPr txBox="1"/>
          <p:nvPr/>
        </p:nvSpPr>
        <p:spPr>
          <a:xfrm>
            <a:off x="457200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dipôle électrostatique</a:t>
            </a:r>
            <a:endParaRPr lang="en-US" sz="4000" dirty="0"/>
          </a:p>
        </p:txBody>
      </p:sp>
      <p:sp>
        <p:nvSpPr>
          <p:cNvPr id="67" name="Text 65"/>
          <p:cNvSpPr txBox="1"/>
          <p:nvPr/>
        </p:nvSpPr>
        <p:spPr>
          <a:xfrm>
            <a:off x="4572000" y="43434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 • Démonstrations détaillées • Figures • Synthèse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640080" y="498348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26395A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22960" y="498348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Enseignant-Chercheur</a:t>
            </a:r>
            <a:endParaRPr lang="en-US" sz="11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 Papa Touty TRAORÉ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64008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Année universitaire 2026 – 2027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dipôle électrostatique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0332720" y="4572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8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6400800" cy="4206240"/>
          </a:xfrm>
          <a:prstGeom prst="rect">
            <a:avLst/>
          </a:prstGeom>
          <a:solidFill>
            <a:srgbClr val="EEF4F6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6400800" cy="4114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288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Objectifs du chapitre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77440"/>
            <a:ext cx="60350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Définir un dipôle électrostatique et son moment dipolaire ; distinguer dipôle permanent et dipôle induit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Calculer le potentiel créé à grande distance par un dipôle et en déduire le champ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Connaître les positions principales de Gauss, les lignes de champ et les équipotentielles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Déterminer le couple, l'énergie potentielle et la force subis par un dipôle dans un champ extérieur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223760" y="1828800"/>
            <a:ext cx="4434840" cy="4206240"/>
          </a:xfrm>
          <a:prstGeom prst="rect">
            <a:avLst/>
          </a:prstGeom>
          <a:solidFill>
            <a:srgbClr val="FDF3E1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23760" y="1828800"/>
            <a:ext cx="4434840" cy="411480"/>
          </a:xfrm>
          <a:prstGeom prst="rect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06640" y="182880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Prérequis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2377440"/>
            <a:ext cx="40690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Chapitres 1 et 2 : loi de Coulomb, superposition, champ et potentiel d'une charge ponctuelle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= − grad V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Produits scalaire et vectoriel, gradient en coordonnées polaires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Développement limité : (1 + ε)ⁿ ≈ 1 + nε si |ε| ≪ 1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du chapitre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1371600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37160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234440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Définitions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20824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157984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157984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020824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Potentiel créé à grande distance par un dipôle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807208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2944368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294436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2807208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Champ créé à grande distance par un dipôle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593592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3730752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3730752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593592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Positions principales de Gauss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217920" y="1234440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7648" y="1371600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27648" y="137160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78040" y="1234440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Lignes de champ et surfaces équipotentielles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17920" y="2020824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7648" y="2157984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7648" y="2157984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2020824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d'un champ électrostatique extérieur sur un dipôle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217920" y="2807208"/>
            <a:ext cx="5394960" cy="676656"/>
          </a:xfrm>
          <a:prstGeom prst="roundRect">
            <a:avLst>
              <a:gd name="adj" fmla="val 8108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7648" y="2944368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27648" y="294436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2807208"/>
            <a:ext cx="4343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L'essentiel du chapitre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Définitions</a:t>
            </a:r>
            <a:endParaRPr lang="en-US" sz="2600" dirty="0"/>
          </a:p>
        </p:txBody>
      </p:sp>
      <p:pic>
        <p:nvPicPr>
          <p:cNvPr id="5" name="Image 0" descr="3.1 Défini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Définitions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 Défini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Définitions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1 Défini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Potentiel créé à grande distance par un dipôle</a:t>
            </a:r>
            <a:endParaRPr lang="en-US" sz="2600" dirty="0"/>
          </a:p>
        </p:txBody>
      </p:sp>
      <p:pic>
        <p:nvPicPr>
          <p:cNvPr id="5" name="Image 0" descr="3.2 Potentiel créé à grande distance par un dipô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Potentiel créé à grande distance par un dipôle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2 Potentiel créé à grande distance par un dipô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Potentiel créé à grande distance par un dipôle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2 Potentiel créé à grande distance par un dipô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Potentiel créé à grande distance par un dipôle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2 Potentiel créé à grande distance par un dipô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Potentiel créé à grande distance par un dipôle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2 Potentiel créé à grande distance par un dipô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Potentiel créé à grande distance par un dipôle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2 Potentiel créé à grande distance par un dipô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Champ créé à grande distance par un dipôle</a:t>
            </a:r>
            <a:endParaRPr lang="en-US" sz="2600" dirty="0"/>
          </a:p>
        </p:txBody>
      </p:sp>
      <p:pic>
        <p:nvPicPr>
          <p:cNvPr id="5" name="Image 0" descr="3.3 Champ créé à grande distance par un dipô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Champ créé à grande distance par un dipôle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3 Champ créé à grande distance par un dipô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Champ créé à grande distance par un dipôle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3 Champ créé à grande distance par un dipô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Champ créé à grande distance par un dipôle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3 Champ créé à grande distance par un dipô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Champ créé à grande distance par un dipôle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3 Champ créé à grande distance par un dipô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Positions principales de Gauss</a:t>
            </a:r>
            <a:endParaRPr lang="en-US" sz="2600" dirty="0"/>
          </a:p>
        </p:txBody>
      </p:sp>
      <p:pic>
        <p:nvPicPr>
          <p:cNvPr id="5" name="Image 0" descr="3.4 Positions principales de Gau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Positions principales de Gauss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4 Positions principales de Gau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Positions principales de Gauss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4 Positions principales de Gau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Positions principales de Gauss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4 Positions principales de Gau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Lignes de champ et surfaces équipotentielles</a:t>
            </a:r>
            <a:endParaRPr lang="en-US" sz="2600" dirty="0"/>
          </a:p>
        </p:txBody>
      </p:sp>
      <p:pic>
        <p:nvPicPr>
          <p:cNvPr id="5" name="Image 0" descr="3.5 Lignes de champ et surfaces équipotentiel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Lignes de champ et surfaces équipotentielles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3.5 Lignes de champ et surfaces équipotentiel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d'un champ électrostatique extérieur sur un dipôle</a:t>
            </a:r>
            <a:endParaRPr lang="en-US" sz="2000" dirty="0"/>
          </a:p>
        </p:txBody>
      </p:sp>
      <p:pic>
        <p:nvPicPr>
          <p:cNvPr id="5" name="Image 0" descr="3.6 Action d'un champ électrostatique extérieur sur un dipô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d'un champ électrostatique extérieur sur un dipôle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000" dirty="0"/>
          </a:p>
        </p:txBody>
      </p:sp>
      <p:pic>
        <p:nvPicPr>
          <p:cNvPr id="5" name="Image 0" descr="3.6 Action d'un champ électrostatique extérieur sur un dipô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d'un champ électrostatique extérieur sur un dipôle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000" dirty="0"/>
          </a:p>
        </p:txBody>
      </p:sp>
      <p:pic>
        <p:nvPicPr>
          <p:cNvPr id="5" name="Image 0" descr="3.6 Action d'un champ électrostatique extérieur sur un dipô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d'un champ électrostatique extérieur sur un dipôle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000" dirty="0"/>
          </a:p>
        </p:txBody>
      </p:sp>
      <p:pic>
        <p:nvPicPr>
          <p:cNvPr id="5" name="Image 0" descr="3.6 Action d'un champ électrostatique extérieur sur un dipô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d'un champ électrostatique extérieur sur un dipôle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000" dirty="0"/>
          </a:p>
        </p:txBody>
      </p:sp>
      <p:pic>
        <p:nvPicPr>
          <p:cNvPr id="5" name="Image 0" descr="3.6 Action d'un champ électrostatique extérieur sur un dipô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d'un champ électrostatique extérieur sur un dipôle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000" dirty="0"/>
          </a:p>
        </p:txBody>
      </p:sp>
      <p:pic>
        <p:nvPicPr>
          <p:cNvPr id="5" name="Image 0" descr="3.6 Action d'un champ électrostatique extérieur sur un dipô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d'un champ électrostatique extérieur sur un dipôle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000" dirty="0"/>
          </a:p>
        </p:txBody>
      </p:sp>
      <p:pic>
        <p:nvPicPr>
          <p:cNvPr id="5" name="Image 0" descr="3.6 Action d'un champ électrostatique extérieur sur un dipô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d'un champ électrostatique extérieur sur un dipôle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000" dirty="0"/>
          </a:p>
        </p:txBody>
      </p:sp>
      <p:pic>
        <p:nvPicPr>
          <p:cNvPr id="5" name="Image 0" descr="3.6 Action d'un champ électrostatique extérieur sur un dipô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L'essentiel du chapitre</a:t>
            </a:r>
            <a:endParaRPr lang="en-US" sz="2600" dirty="0"/>
          </a:p>
        </p:txBody>
      </p:sp>
      <p:pic>
        <p:nvPicPr>
          <p:cNvPr id="5" name="Image 0" descr="3.7 L'essentiel du chapit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3291840"/>
            <a:ext cx="292608" cy="9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" name="Shape 1"/>
          <p:cNvSpPr/>
          <p:nvPr/>
        </p:nvSpPr>
        <p:spPr>
          <a:xfrm>
            <a:off x="8595360" y="3794760"/>
            <a:ext cx="278287" cy="9042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8595360" y="4297680"/>
            <a:ext cx="236725" cy="17199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8595360" y="4800600"/>
            <a:ext cx="171991" cy="23672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8595360" y="530352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595360" y="5806440"/>
            <a:ext cx="0" cy="29260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H="1">
            <a:off x="8504939" y="630936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9098280" y="3168179"/>
            <a:ext cx="265193" cy="1236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V="1">
            <a:off x="9098280" y="3759100"/>
            <a:ext cx="290427" cy="356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098280" y="4297680"/>
            <a:ext cx="287232" cy="5583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098280" y="4800600"/>
            <a:ext cx="255921" cy="1418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098280" y="5303520"/>
            <a:ext cx="199558" cy="21400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098280" y="5806440"/>
            <a:ext cx="123661" cy="2651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098280" y="6309360"/>
            <a:ext cx="35660" cy="29042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9601200" y="3067689"/>
            <a:ext cx="188085" cy="22415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V="1">
            <a:off x="9601200" y="3639701"/>
            <a:ext cx="248146" cy="1550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9601200" y="4226892"/>
            <a:ext cx="283916" cy="7078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01200" y="4800600"/>
            <a:ext cx="291895" cy="204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601200" y="5303520"/>
            <a:ext cx="271301" cy="10961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601200" y="5806440"/>
            <a:ext cx="224151" cy="1880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601200" y="6309360"/>
            <a:ext cx="155059" cy="24814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10104120" y="3009202"/>
            <a:ext cx="75733" cy="28263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10104120" y="3549358"/>
            <a:ext cx="159366" cy="24540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10104120" y="4113536"/>
            <a:ext cx="227399" cy="18414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10104120" y="4695739"/>
            <a:ext cx="273173" cy="1048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10104120" y="5288206"/>
            <a:ext cx="292207" cy="153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104120" y="5806440"/>
            <a:ext cx="282638" cy="757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104120" y="6309360"/>
            <a:ext cx="245402" cy="1593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H="1" flipV="1">
            <a:off x="10556229" y="3003677"/>
            <a:ext cx="50811" cy="2881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V="1">
            <a:off x="10607040" y="3505000"/>
            <a:ext cx="40723" cy="2897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10607040" y="4034686"/>
            <a:ext cx="128271" cy="26299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10607040" y="4590115"/>
            <a:ext cx="203263" cy="2104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0607040" y="5166149"/>
            <a:ext cx="258358" cy="13737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10607040" y="5755629"/>
            <a:ext cx="288163" cy="508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0607040" y="6309360"/>
            <a:ext cx="289760" cy="4072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 flipH="1" flipV="1">
            <a:off x="10942127" y="3052150"/>
            <a:ext cx="167833" cy="23969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 flipV="1">
            <a:off x="11024410" y="3514938"/>
            <a:ext cx="85550" cy="27982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V="1">
            <a:off x="11109960" y="4005117"/>
            <a:ext cx="5107" cy="2925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11109960" y="4523934"/>
            <a:ext cx="95264" cy="2766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V="1">
            <a:off x="11109960" y="5069833"/>
            <a:ext cx="176096" cy="2336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V="1">
            <a:off x="11109960" y="5638607"/>
            <a:ext cx="239690" cy="1678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11109960" y="6223810"/>
            <a:ext cx="279822" cy="855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H="1" flipV="1">
            <a:off x="11359474" y="3145536"/>
            <a:ext cx="253406" cy="14630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H="1" flipV="1">
            <a:off x="11417087" y="3577310"/>
            <a:ext cx="195793" cy="2174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H="1" flipV="1">
            <a:off x="11493866" y="4030369"/>
            <a:ext cx="119014" cy="2673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 flipH="1" flipV="1">
            <a:off x="11582294" y="4509595"/>
            <a:ext cx="30586" cy="29100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 flipV="1">
            <a:off x="11612880" y="5017306"/>
            <a:ext cx="60837" cy="2862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1612880" y="5553034"/>
            <a:ext cx="146304" cy="25340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1612880" y="6113567"/>
            <a:ext cx="217450" cy="1957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731520" y="23774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du chapitre 3</a:t>
            </a:r>
            <a:endParaRPr lang="en-US" sz="4000" dirty="0"/>
          </a:p>
        </p:txBody>
      </p:sp>
      <p:sp>
        <p:nvSpPr>
          <p:cNvPr id="52" name="Text 50"/>
          <p:cNvSpPr txBox="1"/>
          <p:nvPr/>
        </p:nvSpPr>
        <p:spPr>
          <a:xfrm>
            <a:off x="731520" y="3200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dipôle électrostatique</a:t>
            </a:r>
            <a:endParaRPr lang="en-US" sz="2400" dirty="0"/>
          </a:p>
        </p:txBody>
      </p:sp>
      <p:sp>
        <p:nvSpPr>
          <p:cNvPr id="53" name="Text 51"/>
          <p:cNvSpPr txBox="1"/>
          <p:nvPr/>
        </p:nvSpPr>
        <p:spPr>
          <a:xfrm>
            <a:off x="731520" y="6126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 Papa Touty TRAORÉ — Université Souleymane Niang de Matam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Électricité — Chapitre 3 : Le dipôle électrostatique</dc:title>
  <dc:subject>PptxGenJS Presentation</dc:subject>
  <dc:creator>Dr Papa Touty Traoré</dc:creator>
  <cp:lastModifiedBy>Dr Papa Touty Traoré</cp:lastModifiedBy>
  <cp:revision>1</cp:revision>
  <dcterms:created xsi:type="dcterms:W3CDTF">2026-10-14T20:33:18Z</dcterms:created>
  <dcterms:modified xsi:type="dcterms:W3CDTF">2026-10-14T20:33:18Z</dcterms:modified>
</cp:coreProperties>
</file>