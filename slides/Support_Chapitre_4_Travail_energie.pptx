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308" r:id="rId59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307" r:id="rId58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Physique I • Chapitre 4 — Travail et énergie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760720" y="64465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Université Souleymane Niang de Matam • Dr P. T. Traoré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2920"/>
            <a:ext cx="822960" cy="91440"/>
          </a:xfrm>
          <a:prstGeom prst="rect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731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UNIVERSITÉ SOULEYMANE NIANG DE MATAM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UFR Sciences • Licence 1 • Physique I : Mécanique du point matériel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 flipV="1">
            <a:off x="1097280" y="3474720"/>
            <a:ext cx="1920240" cy="731520"/>
          </a:xfrm>
          <a:prstGeom prst="line">
            <a:avLst/>
          </a:prstGeom>
          <a:noFill/>
          <a:ln w="38100">
            <a:solidFill>
              <a:srgbClr val="D98E04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 flipV="1">
            <a:off x="1097280" y="2743200"/>
            <a:ext cx="594360" cy="1463040"/>
          </a:xfrm>
          <a:prstGeom prst="line">
            <a:avLst/>
          </a:prstGeom>
          <a:noFill/>
          <a:ln w="38100">
            <a:solidFill>
              <a:srgbClr val="7FB8C4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1097280" y="2057400"/>
            <a:ext cx="2514600" cy="2148840"/>
          </a:xfrm>
          <a:prstGeom prst="line">
            <a:avLst/>
          </a:prstGeom>
          <a:noFill/>
          <a:ln w="444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 flipV="1">
            <a:off x="3017520" y="2057400"/>
            <a:ext cx="594360" cy="1417320"/>
          </a:xfrm>
          <a:prstGeom prst="line">
            <a:avLst/>
          </a:prstGeom>
          <a:noFill/>
          <a:ln w="12700">
            <a:solidFill>
              <a:srgbClr val="8C99A8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 flipV="1">
            <a:off x="1691640" y="2057400"/>
            <a:ext cx="1920240" cy="685800"/>
          </a:xfrm>
          <a:prstGeom prst="line">
            <a:avLst/>
          </a:prstGeom>
          <a:noFill/>
          <a:ln w="12700">
            <a:solidFill>
              <a:srgbClr val="8C99A8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8595360" y="3291840"/>
            <a:ext cx="292608" cy="9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595360" y="3794760"/>
            <a:ext cx="278287" cy="9042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595360" y="4297680"/>
            <a:ext cx="236725" cy="17199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595360" y="4800600"/>
            <a:ext cx="171991" cy="23672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595360" y="530352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595360" y="5806440"/>
            <a:ext cx="0" cy="29260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H="1">
            <a:off x="8504939" y="630936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V="1">
            <a:off x="9098280" y="3168179"/>
            <a:ext cx="265193" cy="1236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9098280" y="3759100"/>
            <a:ext cx="290427" cy="356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098280" y="4297680"/>
            <a:ext cx="287232" cy="5583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098280" y="4800600"/>
            <a:ext cx="255921" cy="1418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098280" y="5303520"/>
            <a:ext cx="199558" cy="21400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098280" y="5806440"/>
            <a:ext cx="123661" cy="2651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098280" y="6309360"/>
            <a:ext cx="35660" cy="29042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V="1">
            <a:off x="9601200" y="3067689"/>
            <a:ext cx="188085" cy="22415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V="1">
            <a:off x="9601200" y="3639701"/>
            <a:ext cx="248146" cy="1550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9601200" y="4226892"/>
            <a:ext cx="283916" cy="7078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601200" y="4800600"/>
            <a:ext cx="291895" cy="204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601200" y="5303520"/>
            <a:ext cx="271301" cy="10961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601200" y="5806440"/>
            <a:ext cx="224151" cy="1880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601200" y="6309360"/>
            <a:ext cx="155059" cy="24814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 flipV="1">
            <a:off x="10104120" y="3009202"/>
            <a:ext cx="75733" cy="28263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 flipV="1">
            <a:off x="10104120" y="3549358"/>
            <a:ext cx="159366" cy="24540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V="1">
            <a:off x="10104120" y="4113536"/>
            <a:ext cx="227399" cy="18414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0104120" y="4695739"/>
            <a:ext cx="273173" cy="1048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10104120" y="5288206"/>
            <a:ext cx="292207" cy="153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10104120" y="5806440"/>
            <a:ext cx="282638" cy="757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10104120" y="6309360"/>
            <a:ext cx="245402" cy="1593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 flipH="1" flipV="1">
            <a:off x="10556229" y="3003677"/>
            <a:ext cx="50811" cy="2881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 flipV="1">
            <a:off x="10607040" y="3505000"/>
            <a:ext cx="40723" cy="2897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V="1">
            <a:off x="10607040" y="4034686"/>
            <a:ext cx="128271" cy="26299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 flipV="1">
            <a:off x="10607040" y="4590115"/>
            <a:ext cx="203263" cy="2104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 flipV="1">
            <a:off x="10607040" y="5166149"/>
            <a:ext cx="258358" cy="13737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V="1">
            <a:off x="10607040" y="5755629"/>
            <a:ext cx="288163" cy="508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10607040" y="6309360"/>
            <a:ext cx="289760" cy="4072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H="1" flipV="1">
            <a:off x="10942127" y="3052150"/>
            <a:ext cx="167833" cy="23969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 flipH="1" flipV="1">
            <a:off x="11024410" y="3514938"/>
            <a:ext cx="85550" cy="27982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 flipV="1">
            <a:off x="11109960" y="4005117"/>
            <a:ext cx="5107" cy="2925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 flipV="1">
            <a:off x="11109960" y="4523934"/>
            <a:ext cx="95264" cy="2766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1109960" y="5069833"/>
            <a:ext cx="176096" cy="2336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1109960" y="5638607"/>
            <a:ext cx="239690" cy="1678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 flipV="1">
            <a:off x="11109960" y="6223810"/>
            <a:ext cx="279822" cy="855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 flipH="1" flipV="1">
            <a:off x="11359474" y="3145536"/>
            <a:ext cx="253406" cy="14630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 flipH="1" flipV="1">
            <a:off x="11417087" y="3577310"/>
            <a:ext cx="195793" cy="2174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 flipH="1" flipV="1">
            <a:off x="11493866" y="4030369"/>
            <a:ext cx="119014" cy="2673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 flipH="1" flipV="1">
            <a:off x="11582294" y="4509595"/>
            <a:ext cx="30586" cy="29100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 flipV="1">
            <a:off x="11612880" y="5017306"/>
            <a:ext cx="60837" cy="2862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 flipV="1">
            <a:off x="11612880" y="5553034"/>
            <a:ext cx="146304" cy="25340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 flipV="1">
            <a:off x="11612880" y="6113567"/>
            <a:ext cx="217450" cy="1957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9" name="Text 57"/>
          <p:cNvSpPr txBox="1"/>
          <p:nvPr/>
        </p:nvSpPr>
        <p:spPr>
          <a:xfrm>
            <a:off x="4572000" y="20116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DE COURS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4572000" y="242316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Chapitre 4</a:t>
            </a:r>
            <a:endParaRPr lang="en-US" sz="2600" dirty="0"/>
          </a:p>
        </p:txBody>
      </p:sp>
      <p:sp>
        <p:nvSpPr>
          <p:cNvPr id="61" name="Text 59"/>
          <p:cNvSpPr txBox="1"/>
          <p:nvPr/>
        </p:nvSpPr>
        <p:spPr>
          <a:xfrm>
            <a:off x="4572000" y="29718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Travail et énergie</a:t>
            </a:r>
            <a:endParaRPr lang="en-US" sz="4000" dirty="0"/>
          </a:p>
        </p:txBody>
      </p:sp>
      <p:sp>
        <p:nvSpPr>
          <p:cNvPr id="62" name="Text 60"/>
          <p:cNvSpPr txBox="1"/>
          <p:nvPr/>
        </p:nvSpPr>
        <p:spPr>
          <a:xfrm>
            <a:off x="4572000" y="43434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 • Démonstrations détaillées • Exemples • Exercices corrigés</a:t>
            </a:r>
            <a:endParaRPr lang="en-US" sz="1400" dirty="0"/>
          </a:p>
        </p:txBody>
      </p:sp>
      <p:sp>
        <p:nvSpPr>
          <p:cNvPr id="63" name="Shape 61"/>
          <p:cNvSpPr/>
          <p:nvPr/>
        </p:nvSpPr>
        <p:spPr>
          <a:xfrm>
            <a:off x="640080" y="498348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26395A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822960" y="498348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Enseignant-Chercheur</a:t>
            </a:r>
            <a:endParaRPr lang="en-US" sz="11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 Papa Touty TRAORÉ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Assistant</a:t>
            </a:r>
            <a:endParaRPr lang="en-US" sz="1100" dirty="0"/>
          </a:p>
        </p:txBody>
      </p:sp>
      <p:sp>
        <p:nvSpPr>
          <p:cNvPr id="65" name="Text 63"/>
          <p:cNvSpPr txBox="1"/>
          <p:nvPr/>
        </p:nvSpPr>
        <p:spPr>
          <a:xfrm>
            <a:off x="64008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Année universitaire 2026 – 2027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CHAPITRE 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Travail et énergie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0332720" y="45720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8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6400800" cy="4206240"/>
          </a:xfrm>
          <a:prstGeom prst="rect">
            <a:avLst/>
          </a:prstGeom>
          <a:solidFill>
            <a:srgbClr val="EEF4F6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28800"/>
            <a:ext cx="6400800" cy="41148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8288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Objectifs du chapitre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77440"/>
            <a:ext cx="60350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Écrire le déplacement élémentaire et calculer le travail d'une force dans chaque système de coordonnées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Calculer une puissance ; appliquer le théorème de l'énergie cinétique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Reconnaître une force conservative et lui associer une énergie potentielle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Utiliser la conservation de l'énergie mécanique ; lire un graphe Ep(x)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223760" y="1828800"/>
            <a:ext cx="4434840" cy="4206240"/>
          </a:xfrm>
          <a:prstGeom prst="rect">
            <a:avLst/>
          </a:prstGeom>
          <a:solidFill>
            <a:srgbClr val="FDF3E1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23760" y="1828800"/>
            <a:ext cx="4434840" cy="411480"/>
          </a:xfrm>
          <a:prstGeom prst="rect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06640" y="182880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Prérequis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406640" y="2377440"/>
            <a:ext cx="40690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Chapitre 1 : produit scalaire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Chapitres 2 et 3 : vitesse, Frenet, polaires, lois de Newton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Primitives et intégrales simples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Dérivées partielles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du chapitre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1371600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371600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234440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et outils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020824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2157984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157984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020824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Travail d'une force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807208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2944368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2944368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2807208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Expression du travail dans les différents systèmes de coordonnées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3593592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3730752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3730752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3593592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Travail de quelques forces usuelles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4379976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" y="4517136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4517136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4379976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Puissance d'une force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48640" y="5166360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8368" y="5303520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8368" y="5303520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508760" y="5166360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Énergie cinétique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217920" y="1234440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7648" y="1371600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27648" y="1371600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1234440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Forces conservatives et énergie potentielle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217920" y="2020824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27648" y="2157984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27648" y="2157984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78040" y="2020824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Énergie mécanique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217920" y="2807208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27648" y="2944368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327648" y="2944368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7178040" y="2807208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Équilibre et stabilité : lecture d'un graphe d'énergie potentielle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217920" y="3593592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327648" y="3730752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327648" y="3730752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4.10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7178040" y="3593592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L'essentiel du chapitre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217920" y="4379976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327648" y="4517136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327648" y="4517136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4.11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7178040" y="4379976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Exercices d'entraînement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17920" y="5166360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327648" y="5303520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327648" y="5303520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4.12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7178040" y="5166360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Corrigés des exercices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et outils</a:t>
            </a:r>
            <a:endParaRPr lang="en-US" sz="2600" dirty="0"/>
          </a:p>
        </p:txBody>
      </p:sp>
      <p:pic>
        <p:nvPicPr>
          <p:cNvPr id="5" name="Image 0" descr="4.1 Introduction et outi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et outils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1 Introduction et outi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et outils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1 Introduction et outi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et outils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1 Introduction et outi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et outils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1 Introduction et outi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Travail d'une force</a:t>
            </a:r>
            <a:endParaRPr lang="en-US" sz="2600" dirty="0"/>
          </a:p>
        </p:txBody>
      </p:sp>
      <p:pic>
        <p:nvPicPr>
          <p:cNvPr id="5" name="Image 0" descr="4.2 Travail d'une for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Travail d'une force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2 Travail d'une for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Travail d'une force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2 Travail d'une for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Expression du travail dans les différents systèmes de coordonnées</a:t>
            </a:r>
            <a:endParaRPr lang="en-US" sz="2000" dirty="0"/>
          </a:p>
        </p:txBody>
      </p:sp>
      <p:pic>
        <p:nvPicPr>
          <p:cNvPr id="5" name="Image 0" descr="4.3 Expression du travail dans les différents systèmes de coordonné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Expression du travail dans les différents systèmes de coordonnées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000" dirty="0"/>
          </a:p>
        </p:txBody>
      </p:sp>
      <p:pic>
        <p:nvPicPr>
          <p:cNvPr id="5" name="Image 0" descr="4.3 Expression du travail dans les différents systèmes de coordonné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Expression du travail dans les différents systèmes de coordonnées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000" dirty="0"/>
          </a:p>
        </p:txBody>
      </p:sp>
      <p:pic>
        <p:nvPicPr>
          <p:cNvPr id="5" name="Image 0" descr="4.3 Expression du travail dans les différents systèmes de coordonné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Travail de quelques forces usuelles</a:t>
            </a:r>
            <a:endParaRPr lang="en-US" sz="2600" dirty="0"/>
          </a:p>
        </p:txBody>
      </p:sp>
      <p:pic>
        <p:nvPicPr>
          <p:cNvPr id="5" name="Image 0" descr="4.4 Travail de quelques forces usuel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Travail de quelques forces usuelles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4 Travail de quelques forces usuel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Travail de quelques forces usuelles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4 Travail de quelques forces usuel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Travail de quelques forces usuelles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4 Travail de quelques forces usuel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Travail de quelques forces usuelles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4 Travail de quelques forces usuel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Travail de quelques forces usuelles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4 Travail de quelques forces usuel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Travail de quelques forces usuelles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4 Travail de quelques forces usuel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Puissance d'une force</a:t>
            </a:r>
            <a:endParaRPr lang="en-US" sz="2600" dirty="0"/>
          </a:p>
        </p:txBody>
      </p:sp>
      <p:pic>
        <p:nvPicPr>
          <p:cNvPr id="5" name="Image 0" descr="4.5 Puissance d'une for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Puissance d'une force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5 Puissance d'une for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Énergie cinétique</a:t>
            </a:r>
            <a:endParaRPr lang="en-US" sz="2600" dirty="0"/>
          </a:p>
        </p:txBody>
      </p:sp>
      <p:pic>
        <p:nvPicPr>
          <p:cNvPr id="5" name="Image 0" descr="4.6 Énergie cinét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Énergie cinétique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6 Énergie cinét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Énergie cinétique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6 Énergie cinét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Énergie cinétique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6 Énergie cinét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Forces conservatives et énergie potentielle</a:t>
            </a:r>
            <a:endParaRPr lang="en-US" sz="2600" dirty="0"/>
          </a:p>
        </p:txBody>
      </p:sp>
      <p:pic>
        <p:nvPicPr>
          <p:cNvPr id="5" name="Image 0" descr="4.7 Forces conservatives et énergie potentiel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Forces conservatives et énergie potentielle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7 Forces conservatives et énergie potentiel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Forces conservatives et énergie potentielle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7 Forces conservatives et énergie potentiel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Forces conservatives et énergie potentielle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7 Forces conservatives et énergie potentiel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Forces conservatives et énergie potentielle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7 Forces conservatives et énergie potentiel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Forces conservatives et énergie potentielle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7 Forces conservatives et énergie potentiel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Forces conservatives et énergie potentielle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7 Forces conservatives et énergie potentiel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Forces conservatives et énergie potentielle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7 Forces conservatives et énergie potentiel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Énergie mécanique</a:t>
            </a:r>
            <a:endParaRPr lang="en-US" sz="2600" dirty="0"/>
          </a:p>
        </p:txBody>
      </p:sp>
      <p:pic>
        <p:nvPicPr>
          <p:cNvPr id="5" name="Image 0" descr="4.8 Énergie mécan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Énergie mécanique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8 Énergie mécan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Énergie mécanique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8 Énergie mécan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Énergie mécanique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8 Énergie mécan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Énergie mécanique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8 Énergie mécan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Équilibre et stabilité : lecture d'un graphe d'énergie potentielle</a:t>
            </a:r>
            <a:endParaRPr lang="en-US" sz="2000" dirty="0"/>
          </a:p>
        </p:txBody>
      </p:sp>
      <p:pic>
        <p:nvPicPr>
          <p:cNvPr id="5" name="Image 0" descr="4.9 Équilibre et stabilité : lecture d'un graphe d'énergie potentiel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Équilibre et stabilité : lecture d'un graphe d'énergie potentielle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000" dirty="0"/>
          </a:p>
        </p:txBody>
      </p:sp>
      <p:pic>
        <p:nvPicPr>
          <p:cNvPr id="5" name="Image 0" descr="4.9 Équilibre et stabilité : lecture d'un graphe d'énergie potentiel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Équilibre et stabilité : lecture d'un graphe d'énergie potentielle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000" dirty="0"/>
          </a:p>
        </p:txBody>
      </p:sp>
      <p:pic>
        <p:nvPicPr>
          <p:cNvPr id="5" name="Image 0" descr="4.9 Équilibre et stabilité : lecture d'un graphe d'énergie potentiel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L'essentiel du chapitre</a:t>
            </a:r>
            <a:endParaRPr lang="en-US" sz="2600" dirty="0"/>
          </a:p>
        </p:txBody>
      </p:sp>
      <p:pic>
        <p:nvPicPr>
          <p:cNvPr id="5" name="Image 0" descr="4.10 L'essentiel du chapit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L'essentiel du chapitre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10 L'essentiel du chapit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Exercices d'entraînement</a:t>
            </a:r>
            <a:endParaRPr lang="en-US" sz="2600" dirty="0"/>
          </a:p>
        </p:txBody>
      </p:sp>
      <p:pic>
        <p:nvPicPr>
          <p:cNvPr id="5" name="Image 0" descr="4.11 Exercices d'entraîn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Exercices d'entraînement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11 Exercices d'entraîn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Corrigés des exercices</a:t>
            </a:r>
            <a:endParaRPr lang="en-US" sz="2600" dirty="0"/>
          </a:p>
        </p:txBody>
      </p:sp>
      <p:pic>
        <p:nvPicPr>
          <p:cNvPr id="5" name="Image 0" descr="4.12 Corrigés des exerci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Corrigés des exercices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12 Corrigés des exerci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Corrigés des exercices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12 Corrigés des exerci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3291840"/>
            <a:ext cx="292608" cy="9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" name="Shape 1"/>
          <p:cNvSpPr/>
          <p:nvPr/>
        </p:nvSpPr>
        <p:spPr>
          <a:xfrm>
            <a:off x="8595360" y="3794760"/>
            <a:ext cx="278287" cy="9042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8595360" y="4297680"/>
            <a:ext cx="236725" cy="17199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8595360" y="4800600"/>
            <a:ext cx="171991" cy="23672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8595360" y="530352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8595360" y="5806440"/>
            <a:ext cx="0" cy="29260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 flipH="1">
            <a:off x="8504939" y="630936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9098280" y="3168179"/>
            <a:ext cx="265193" cy="1236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 flipV="1">
            <a:off x="9098280" y="3759100"/>
            <a:ext cx="290427" cy="356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098280" y="4297680"/>
            <a:ext cx="287232" cy="5583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098280" y="4800600"/>
            <a:ext cx="255921" cy="1418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098280" y="5303520"/>
            <a:ext cx="199558" cy="21400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098280" y="5806440"/>
            <a:ext cx="123661" cy="2651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098280" y="6309360"/>
            <a:ext cx="35660" cy="29042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9601200" y="3067689"/>
            <a:ext cx="188085" cy="22415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V="1">
            <a:off x="9601200" y="3639701"/>
            <a:ext cx="248146" cy="1550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9601200" y="4226892"/>
            <a:ext cx="283916" cy="7078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01200" y="4800600"/>
            <a:ext cx="291895" cy="204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601200" y="5303520"/>
            <a:ext cx="271301" cy="10961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601200" y="5806440"/>
            <a:ext cx="224151" cy="1880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601200" y="6309360"/>
            <a:ext cx="155059" cy="24814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 flipV="1">
            <a:off x="10104120" y="3009202"/>
            <a:ext cx="75733" cy="28263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V="1">
            <a:off x="10104120" y="3549358"/>
            <a:ext cx="159366" cy="24540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V="1">
            <a:off x="10104120" y="4113536"/>
            <a:ext cx="227399" cy="18414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10104120" y="4695739"/>
            <a:ext cx="273173" cy="1048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V="1">
            <a:off x="10104120" y="5288206"/>
            <a:ext cx="292207" cy="153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104120" y="5806440"/>
            <a:ext cx="282638" cy="757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104120" y="6309360"/>
            <a:ext cx="245402" cy="1593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 flipH="1" flipV="1">
            <a:off x="10556229" y="3003677"/>
            <a:ext cx="50811" cy="2881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 flipV="1">
            <a:off x="10607040" y="3505000"/>
            <a:ext cx="40723" cy="2897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 flipV="1">
            <a:off x="10607040" y="4034686"/>
            <a:ext cx="128271" cy="26299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V="1">
            <a:off x="10607040" y="4590115"/>
            <a:ext cx="203263" cy="2104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0607040" y="5166149"/>
            <a:ext cx="258358" cy="13737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10607040" y="5755629"/>
            <a:ext cx="288163" cy="508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10607040" y="6309360"/>
            <a:ext cx="289760" cy="4072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 flipH="1" flipV="1">
            <a:off x="10942127" y="3052150"/>
            <a:ext cx="167833" cy="23969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 flipH="1" flipV="1">
            <a:off x="11024410" y="3514938"/>
            <a:ext cx="85550" cy="27982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 flipV="1">
            <a:off x="11109960" y="4005117"/>
            <a:ext cx="5107" cy="2925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V="1">
            <a:off x="11109960" y="4523934"/>
            <a:ext cx="95264" cy="2766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 flipV="1">
            <a:off x="11109960" y="5069833"/>
            <a:ext cx="176096" cy="2336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 flipV="1">
            <a:off x="11109960" y="5638607"/>
            <a:ext cx="239690" cy="1678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V="1">
            <a:off x="11109960" y="6223810"/>
            <a:ext cx="279822" cy="855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 flipH="1" flipV="1">
            <a:off x="11359474" y="3145536"/>
            <a:ext cx="253406" cy="14630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H="1" flipV="1">
            <a:off x="11417087" y="3577310"/>
            <a:ext cx="195793" cy="2174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 flipH="1" flipV="1">
            <a:off x="11493866" y="4030369"/>
            <a:ext cx="119014" cy="2673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 flipH="1" flipV="1">
            <a:off x="11582294" y="4509595"/>
            <a:ext cx="30586" cy="29100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 flipV="1">
            <a:off x="11612880" y="5017306"/>
            <a:ext cx="60837" cy="2862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1612880" y="5553034"/>
            <a:ext cx="146304" cy="25340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1612880" y="6113567"/>
            <a:ext cx="217450" cy="1957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731520" y="23774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du chapitre 4</a:t>
            </a:r>
            <a:endParaRPr lang="en-US" sz="4000" dirty="0"/>
          </a:p>
        </p:txBody>
      </p:sp>
      <p:sp>
        <p:nvSpPr>
          <p:cNvPr id="52" name="Text 50"/>
          <p:cNvSpPr txBox="1"/>
          <p:nvPr/>
        </p:nvSpPr>
        <p:spPr>
          <a:xfrm>
            <a:off x="731520" y="32004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Travail et énergie</a:t>
            </a:r>
            <a:endParaRPr lang="en-US" sz="2400" dirty="0"/>
          </a:p>
        </p:txBody>
      </p:sp>
      <p:sp>
        <p:nvSpPr>
          <p:cNvPr id="53" name="Text 51"/>
          <p:cNvSpPr txBox="1"/>
          <p:nvPr/>
        </p:nvSpPr>
        <p:spPr>
          <a:xfrm>
            <a:off x="731520" y="6126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 Papa Touty TRAORÉ — Université Souleymane Niang de Matam</a:t>
            </a:r>
            <a:endParaRPr lang="en-US" sz="1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Équilibre et stabilité — simulation 3D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43</a:t>
            </a:fld>
            <a:endParaRPr lang="en-US"/>
          </a:p>
        </p:txBody>
      </p:sp>
      <p:pic>
        <p:nvPicPr>
          <p:cNvPr id="26" name="sim_cuvett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8572" y="1003154"/>
            <a:ext cx="11274552" cy="516750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6"/>
                </p:tgtEl>
              </p:cMediaNode>
            </p:video>
          </p:childTnLst>
        </p:cTn>
      </p:par>
    </p:tnLst>
  </p:timing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Travail du poids — simulation 3D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  <p:pic>
        <p:nvPicPr>
          <p:cNvPr id="26" name="sim_chemi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8572" y="1003154"/>
            <a:ext cx="11274552" cy="516750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6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Physique I — Chapitre 4 : Travail et énergie</dc:title>
  <dc:subject>PptxGenJS Presentation</dc:subject>
  <dc:creator>Dr Papa Touty Traoré</dc:creator>
  <cp:lastModifiedBy>Dr Papa Touty Traoré</cp:lastModifiedBy>
  <cp:revision>1</cp:revision>
  <dcterms:created xsi:type="dcterms:W3CDTF">2026-10-10T18:58:42Z</dcterms:created>
  <dcterms:modified xsi:type="dcterms:W3CDTF">2026-10-10T18:58:42Z</dcterms:modified>
</cp:coreProperties>
</file>