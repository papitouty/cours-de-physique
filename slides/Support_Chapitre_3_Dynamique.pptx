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40" r:id="rId91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39" r:id="rId90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</p:sldIdLst>
  <p:notesMasterIdLst>
    <p:notesMasterId r:id="rId8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notesMaster" Target="notesMasters/notesMaster1.xml"/><Relationship Id="rId86" Type="http://schemas.openxmlformats.org/officeDocument/2006/relationships/presProps" Target="presProps.xml"/><Relationship Id="rId87" Type="http://schemas.openxmlformats.org/officeDocument/2006/relationships/viewProps" Target="viewProps.xml"/><Relationship Id="rId88" Type="http://schemas.openxmlformats.org/officeDocument/2006/relationships/theme" Target="theme/theme1.xml"/><Relationship Id="rId89" Type="http://schemas.openxmlformats.org/officeDocument/2006/relationships/tableStyles" Target="tableStyles.xml"/><Relationship Id="rId90" Type="http://schemas.openxmlformats.org/officeDocument/2006/relationships/slide" Target="slides/slide84.xml"/><Relationship Id="rId91" Type="http://schemas.openxmlformats.org/officeDocument/2006/relationships/slide" Target="slides/slide8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7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Physique I • Chapitre 3 — Dynamique du point matériel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760720" y="64465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Université Souleymane Niang de Matam • Dr P. T. Traoré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MBRE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2920"/>
            <a:ext cx="822960" cy="91440"/>
          </a:xfrm>
          <a:prstGeom prst="rect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731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8E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UNIVERSITÉ SOULEYMANE NIANG DE MATAM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097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UFR Sciences • Licence 1 • Physique I : Mécanique du point matériel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 flipV="1">
            <a:off x="1097280" y="3474720"/>
            <a:ext cx="1920240" cy="731520"/>
          </a:xfrm>
          <a:prstGeom prst="line">
            <a:avLst/>
          </a:prstGeom>
          <a:noFill/>
          <a:ln w="38100">
            <a:solidFill>
              <a:srgbClr val="D98E04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 flipV="1">
            <a:off x="1097280" y="2743200"/>
            <a:ext cx="594360" cy="1463040"/>
          </a:xfrm>
          <a:prstGeom prst="line">
            <a:avLst/>
          </a:prstGeom>
          <a:noFill/>
          <a:ln w="38100">
            <a:solidFill>
              <a:srgbClr val="7FB8C4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 flipV="1">
            <a:off x="1097280" y="2057400"/>
            <a:ext cx="2514600" cy="2148840"/>
          </a:xfrm>
          <a:prstGeom prst="line">
            <a:avLst/>
          </a:prstGeom>
          <a:noFill/>
          <a:ln w="44450">
            <a:solidFill>
              <a:srgbClr val="FFFFFF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 flipV="1">
            <a:off x="3017520" y="2057400"/>
            <a:ext cx="594360" cy="1417320"/>
          </a:xfrm>
          <a:prstGeom prst="line">
            <a:avLst/>
          </a:prstGeom>
          <a:noFill/>
          <a:ln w="12700">
            <a:solidFill>
              <a:srgbClr val="8C99A8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 flipV="1">
            <a:off x="1691640" y="2057400"/>
            <a:ext cx="1920240" cy="685800"/>
          </a:xfrm>
          <a:prstGeom prst="line">
            <a:avLst/>
          </a:prstGeom>
          <a:noFill/>
          <a:ln w="12700">
            <a:solidFill>
              <a:srgbClr val="8C99A8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8595360" y="3291840"/>
            <a:ext cx="292608" cy="91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8595360" y="3794760"/>
            <a:ext cx="278287" cy="9042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8595360" y="4297680"/>
            <a:ext cx="236725" cy="17199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8595360" y="4800600"/>
            <a:ext cx="171991" cy="236725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595360" y="5303520"/>
            <a:ext cx="90421" cy="278287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595360" y="5806440"/>
            <a:ext cx="0" cy="292608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 flipH="1">
            <a:off x="8504939" y="6309360"/>
            <a:ext cx="90421" cy="278287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 flipV="1">
            <a:off x="9098280" y="3168179"/>
            <a:ext cx="265193" cy="12366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 flipV="1">
            <a:off x="9098280" y="3759100"/>
            <a:ext cx="290427" cy="3566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098280" y="4297680"/>
            <a:ext cx="287232" cy="55832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9098280" y="4800600"/>
            <a:ext cx="255921" cy="141859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098280" y="5303520"/>
            <a:ext cx="199558" cy="21400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9098280" y="5806440"/>
            <a:ext cx="123661" cy="26519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9098280" y="6309360"/>
            <a:ext cx="35660" cy="290427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 flipV="1">
            <a:off x="9601200" y="3067689"/>
            <a:ext cx="188085" cy="22415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 flipV="1">
            <a:off x="9601200" y="3639701"/>
            <a:ext cx="248146" cy="155059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 flipV="1">
            <a:off x="9601200" y="4226892"/>
            <a:ext cx="283916" cy="70788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9601200" y="4800600"/>
            <a:ext cx="291895" cy="2041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601200" y="5303520"/>
            <a:ext cx="271301" cy="10961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9601200" y="5806440"/>
            <a:ext cx="224151" cy="188085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9601200" y="6309360"/>
            <a:ext cx="155059" cy="248146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 flipV="1">
            <a:off x="10104120" y="3009202"/>
            <a:ext cx="75733" cy="282638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 flipV="1">
            <a:off x="10104120" y="3549358"/>
            <a:ext cx="159366" cy="245402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 flipV="1">
            <a:off x="10104120" y="4113536"/>
            <a:ext cx="227399" cy="18414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 flipV="1">
            <a:off x="10104120" y="4695739"/>
            <a:ext cx="273173" cy="10486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 flipV="1">
            <a:off x="10104120" y="5288206"/>
            <a:ext cx="292207" cy="1531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10104120" y="5806440"/>
            <a:ext cx="282638" cy="7573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10104120" y="6309360"/>
            <a:ext cx="245402" cy="159366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 flipH="1" flipV="1">
            <a:off x="10556229" y="3003677"/>
            <a:ext cx="50811" cy="28816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 flipV="1">
            <a:off x="10607040" y="3505000"/>
            <a:ext cx="40723" cy="28976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 flipV="1">
            <a:off x="10607040" y="4034686"/>
            <a:ext cx="128271" cy="26299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 flipV="1">
            <a:off x="10607040" y="4590115"/>
            <a:ext cx="203263" cy="210485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 flipV="1">
            <a:off x="10607040" y="5166149"/>
            <a:ext cx="258358" cy="13737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 flipV="1">
            <a:off x="10607040" y="5755629"/>
            <a:ext cx="288163" cy="5081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10607040" y="6309360"/>
            <a:ext cx="289760" cy="4072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 flipH="1" flipV="1">
            <a:off x="10942127" y="3052150"/>
            <a:ext cx="167833" cy="23969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 flipH="1" flipV="1">
            <a:off x="11024410" y="3514938"/>
            <a:ext cx="85550" cy="279822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 flipV="1">
            <a:off x="11109960" y="4005117"/>
            <a:ext cx="5107" cy="29256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 flipV="1">
            <a:off x="11109960" y="4523934"/>
            <a:ext cx="95264" cy="276666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 flipV="1">
            <a:off x="11109960" y="5069833"/>
            <a:ext cx="176096" cy="233687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 flipV="1">
            <a:off x="11109960" y="5638607"/>
            <a:ext cx="239690" cy="16783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1" name="Shape 49"/>
          <p:cNvSpPr/>
          <p:nvPr/>
        </p:nvSpPr>
        <p:spPr>
          <a:xfrm flipV="1">
            <a:off x="11109960" y="6223810"/>
            <a:ext cx="279822" cy="8555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 flipH="1" flipV="1">
            <a:off x="11359474" y="3145536"/>
            <a:ext cx="253406" cy="14630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3" name="Shape 51"/>
          <p:cNvSpPr/>
          <p:nvPr/>
        </p:nvSpPr>
        <p:spPr>
          <a:xfrm flipH="1" flipV="1">
            <a:off x="11417087" y="3577310"/>
            <a:ext cx="195793" cy="21745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4" name="Shape 52"/>
          <p:cNvSpPr/>
          <p:nvPr/>
        </p:nvSpPr>
        <p:spPr>
          <a:xfrm flipH="1" flipV="1">
            <a:off x="11493866" y="4030369"/>
            <a:ext cx="119014" cy="26731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5" name="Shape 53"/>
          <p:cNvSpPr/>
          <p:nvPr/>
        </p:nvSpPr>
        <p:spPr>
          <a:xfrm flipH="1" flipV="1">
            <a:off x="11582294" y="4509595"/>
            <a:ext cx="30586" cy="291005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 flipV="1">
            <a:off x="11612880" y="5017306"/>
            <a:ext cx="60837" cy="28621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7" name="Shape 55"/>
          <p:cNvSpPr/>
          <p:nvPr/>
        </p:nvSpPr>
        <p:spPr>
          <a:xfrm flipV="1">
            <a:off x="11612880" y="5553034"/>
            <a:ext cx="146304" cy="253406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8" name="Shape 56"/>
          <p:cNvSpPr/>
          <p:nvPr/>
        </p:nvSpPr>
        <p:spPr>
          <a:xfrm flipV="1">
            <a:off x="11612880" y="6113567"/>
            <a:ext cx="217450" cy="19579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9" name="Text 57"/>
          <p:cNvSpPr txBox="1"/>
          <p:nvPr/>
        </p:nvSpPr>
        <p:spPr>
          <a:xfrm>
            <a:off x="4572000" y="201168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D98E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 DE COURS</a:t>
            </a:r>
            <a:endParaRPr lang="en-US" sz="1500" dirty="0"/>
          </a:p>
        </p:txBody>
      </p:sp>
      <p:sp>
        <p:nvSpPr>
          <p:cNvPr id="60" name="Text 58"/>
          <p:cNvSpPr txBox="1"/>
          <p:nvPr/>
        </p:nvSpPr>
        <p:spPr>
          <a:xfrm>
            <a:off x="4572000" y="242316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Chapitre 3</a:t>
            </a:r>
            <a:endParaRPr lang="en-US" sz="2600" dirty="0"/>
          </a:p>
        </p:txBody>
      </p:sp>
      <p:sp>
        <p:nvSpPr>
          <p:cNvPr id="61" name="Text 59"/>
          <p:cNvSpPr txBox="1"/>
          <p:nvPr/>
        </p:nvSpPr>
        <p:spPr>
          <a:xfrm>
            <a:off x="4572000" y="297180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Dynamique du point matériel</a:t>
            </a:r>
            <a:endParaRPr lang="en-US" sz="4000" dirty="0"/>
          </a:p>
        </p:txBody>
      </p:sp>
      <p:sp>
        <p:nvSpPr>
          <p:cNvPr id="62" name="Text 60"/>
          <p:cNvSpPr txBox="1"/>
          <p:nvPr/>
        </p:nvSpPr>
        <p:spPr>
          <a:xfrm>
            <a:off x="4572000" y="434340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 • Démonstrations détaillées • Exemples • Exercices corrigés</a:t>
            </a:r>
            <a:endParaRPr lang="en-US" sz="1400" dirty="0"/>
          </a:p>
        </p:txBody>
      </p:sp>
      <p:sp>
        <p:nvSpPr>
          <p:cNvPr id="63" name="Shape 61"/>
          <p:cNvSpPr/>
          <p:nvPr/>
        </p:nvSpPr>
        <p:spPr>
          <a:xfrm>
            <a:off x="640080" y="4983480"/>
            <a:ext cx="4206240" cy="1051560"/>
          </a:xfrm>
          <a:prstGeom prst="roundRect">
            <a:avLst>
              <a:gd name="adj" fmla="val 6957"/>
            </a:avLst>
          </a:prstGeom>
          <a:solidFill>
            <a:srgbClr val="26395A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822960" y="4983480"/>
            <a:ext cx="3931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Enseignant-Chercheur</a:t>
            </a:r>
            <a:endParaRPr lang="en-US" sz="11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 Papa Touty TRAORÉ</a:t>
            </a:r>
            <a:endParaRPr lang="en-US" sz="1100" dirty="0"/>
          </a:p>
          <a:p>
            <a:pPr indent="0" marL="0">
              <a:buNone/>
            </a:pPr>
            <a:r>
              <a:rPr lang="en-US" sz="1300" dirty="0">
                <a:solidFill>
                  <a:srgbClr val="D98E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Assistant</a:t>
            </a:r>
            <a:endParaRPr lang="en-US" sz="1100" dirty="0"/>
          </a:p>
        </p:txBody>
      </p:sp>
      <p:sp>
        <p:nvSpPr>
          <p:cNvPr id="65" name="Text 63"/>
          <p:cNvSpPr txBox="1"/>
          <p:nvPr/>
        </p:nvSpPr>
        <p:spPr>
          <a:xfrm>
            <a:off x="640080" y="6263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Année universitaire 2026 – 2027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CHAPITRE 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Dynamique du point matériel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0332720" y="45720"/>
            <a:ext cx="1463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0" b="1" dirty="0">
                <a:solidFill>
                  <a:srgbClr val="D98E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8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6400800" cy="4206240"/>
          </a:xfrm>
          <a:prstGeom prst="rect">
            <a:avLst/>
          </a:prstGeom>
          <a:solidFill>
            <a:srgbClr val="EEF4F6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828800"/>
            <a:ext cx="6400800" cy="41148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82880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Objectifs du chapitre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377440"/>
            <a:ext cx="603504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5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Distinguer référentiel, repère et système de coordonnées ; reconnaître un référentiel galiléen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5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Énoncer et appliquer les trois lois de Newton ; conservation de la quantité de mouvement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5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Exprimer les forces usuelles : gravitation, poids, Coulomb, ressort, frottements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5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Utiliser le moment cinétique et les forces centrales ; mettre un mouvement en équation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223760" y="1828800"/>
            <a:ext cx="4434840" cy="4206240"/>
          </a:xfrm>
          <a:prstGeom prst="rect">
            <a:avLst/>
          </a:prstGeom>
          <a:solidFill>
            <a:srgbClr val="FDF3E1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223760" y="1828800"/>
            <a:ext cx="4434840" cy="411480"/>
          </a:xfrm>
          <a:prstGeom prst="rect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406640" y="1828800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Prérequis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406640" y="2377440"/>
            <a:ext cx="40690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5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Chapitre 1 : produits scalaire et vectoriel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5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Chapitre 2 : vitesse, accélération, Frenet, polaires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5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Dérivées, primitives, exponentielle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5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Trigonométrie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du chapitre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5394960" cy="608729"/>
          </a:xfrm>
          <a:prstGeom prst="roundRect">
            <a:avLst>
              <a:gd name="adj" fmla="val 9013"/>
            </a:avLst>
          </a:prstGeom>
          <a:solidFill>
            <a:srgbClr val="EEF4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1337637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337637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234440"/>
            <a:ext cx="4343400" cy="6087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 : de la cinématique à la dynamique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1952897"/>
            <a:ext cx="5394960" cy="608729"/>
          </a:xfrm>
          <a:prstGeom prst="roundRect">
            <a:avLst>
              <a:gd name="adj" fmla="val 9013"/>
            </a:avLst>
          </a:prstGeom>
          <a:solidFill>
            <a:srgbClr val="FDF3E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" y="2056094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056094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1952897"/>
            <a:ext cx="4343400" cy="6087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Première loi de Newton : le principe d'inertie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2671354"/>
            <a:ext cx="5394960" cy="608729"/>
          </a:xfrm>
          <a:prstGeom prst="roundRect">
            <a:avLst>
              <a:gd name="adj" fmla="val 9013"/>
            </a:avLst>
          </a:prstGeom>
          <a:solidFill>
            <a:srgbClr val="EEF4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2774551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2774551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2671354"/>
            <a:ext cx="4343400" cy="6087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Quantité de mouvement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48640" y="3389811"/>
            <a:ext cx="5394960" cy="608729"/>
          </a:xfrm>
          <a:prstGeom prst="roundRect">
            <a:avLst>
              <a:gd name="adj" fmla="val 9013"/>
            </a:avLst>
          </a:prstGeom>
          <a:solidFill>
            <a:srgbClr val="FDF3E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3493008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8368" y="3493008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3389811"/>
            <a:ext cx="4343400" cy="6087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Deuxième loi de Newton : principe fondamental de la dynamique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4108269"/>
            <a:ext cx="5394960" cy="608729"/>
          </a:xfrm>
          <a:prstGeom prst="roundRect">
            <a:avLst>
              <a:gd name="adj" fmla="val 9013"/>
            </a:avLst>
          </a:prstGeom>
          <a:solidFill>
            <a:srgbClr val="EEF4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8368" y="4211465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" y="4211465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508760" y="4108269"/>
            <a:ext cx="4343400" cy="6087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Troisième loi de Newton : principe des actions réciproques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548640" y="4826726"/>
            <a:ext cx="5394960" cy="608729"/>
          </a:xfrm>
          <a:prstGeom prst="roundRect">
            <a:avLst>
              <a:gd name="adj" fmla="val 9013"/>
            </a:avLst>
          </a:prstGeom>
          <a:solidFill>
            <a:srgbClr val="FDF3E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8368" y="4929922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8368" y="4929922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508760" y="4826726"/>
            <a:ext cx="4343400" cy="6087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Quelques lois de forces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548640" y="5545183"/>
            <a:ext cx="5394960" cy="608729"/>
          </a:xfrm>
          <a:prstGeom prst="roundRect">
            <a:avLst>
              <a:gd name="adj" fmla="val 9013"/>
            </a:avLst>
          </a:prstGeom>
          <a:solidFill>
            <a:srgbClr val="EEF4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58368" y="5648379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58368" y="5648379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508760" y="5545183"/>
            <a:ext cx="4343400" cy="6087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Forces de frottement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217920" y="1234440"/>
            <a:ext cx="5394960" cy="608729"/>
          </a:xfrm>
          <a:prstGeom prst="roundRect">
            <a:avLst>
              <a:gd name="adj" fmla="val 9013"/>
            </a:avLst>
          </a:prstGeom>
          <a:solidFill>
            <a:srgbClr val="EEF4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27648" y="1337637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327648" y="1337637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178040" y="1234440"/>
            <a:ext cx="4343400" cy="6087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moment cinétique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217920" y="1952897"/>
            <a:ext cx="5394960" cy="608729"/>
          </a:xfrm>
          <a:prstGeom prst="roundRect">
            <a:avLst>
              <a:gd name="adj" fmla="val 9013"/>
            </a:avLst>
          </a:prstGeom>
          <a:solidFill>
            <a:srgbClr val="FDF3E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27648" y="2056094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327648" y="2056094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3.9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7178040" y="1952897"/>
            <a:ext cx="4343400" cy="6087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forces centrales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217920" y="2671354"/>
            <a:ext cx="5394960" cy="608729"/>
          </a:xfrm>
          <a:prstGeom prst="roundRect">
            <a:avLst>
              <a:gd name="adj" fmla="val 9013"/>
            </a:avLst>
          </a:prstGeom>
          <a:solidFill>
            <a:srgbClr val="EEF4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327648" y="2774551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327648" y="2774551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3.10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7178040" y="2671354"/>
            <a:ext cx="4343400" cy="6087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équations différentielles du mouvement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6217920" y="3389811"/>
            <a:ext cx="5394960" cy="608729"/>
          </a:xfrm>
          <a:prstGeom prst="roundRect">
            <a:avLst>
              <a:gd name="adj" fmla="val 9013"/>
            </a:avLst>
          </a:prstGeom>
          <a:solidFill>
            <a:srgbClr val="FDF3E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327648" y="3493008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327648" y="3493008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3.11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7178040" y="3389811"/>
            <a:ext cx="4343400" cy="6087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L'essentiel du chapitre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6217920" y="4108269"/>
            <a:ext cx="5394960" cy="608729"/>
          </a:xfrm>
          <a:prstGeom prst="roundRect">
            <a:avLst>
              <a:gd name="adj" fmla="val 9013"/>
            </a:avLst>
          </a:prstGeom>
          <a:solidFill>
            <a:srgbClr val="EEF4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327648" y="4211465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327648" y="4211465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3.12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7178040" y="4108269"/>
            <a:ext cx="4343400" cy="6087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Exercices d'entraînement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6217920" y="4826726"/>
            <a:ext cx="5394960" cy="608729"/>
          </a:xfrm>
          <a:prstGeom prst="roundRect">
            <a:avLst>
              <a:gd name="adj" fmla="val 9013"/>
            </a:avLst>
          </a:prstGeom>
          <a:solidFill>
            <a:srgbClr val="FDF3E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327648" y="4929922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327648" y="4929922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3.13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178040" y="4826726"/>
            <a:ext cx="4343400" cy="6087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Corrigés des exercices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 : de la cinématique à la dynamique</a:t>
            </a:r>
            <a:endParaRPr lang="en-US" sz="2600" dirty="0"/>
          </a:p>
        </p:txBody>
      </p:sp>
      <p:pic>
        <p:nvPicPr>
          <p:cNvPr id="5" name="Image 0" descr="3.1 Introduction : de la cinématique à la dynami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 : de la cinématique à la dynamique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1 Introduction : de la cinématique à la dynami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 : de la cinématique à la dynamique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1 Introduction : de la cinématique à la dynami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 : de la cinématique à la dynamique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1 Introduction : de la cinématique à la dynami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 : de la cinématique à la dynamique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1 Introduction : de la cinématique à la dynami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Première loi de Newton : le principe d'inertie</a:t>
            </a:r>
            <a:endParaRPr lang="en-US" sz="2600" dirty="0"/>
          </a:p>
        </p:txBody>
      </p:sp>
      <p:pic>
        <p:nvPicPr>
          <p:cNvPr id="5" name="Image 0" descr="3.2 Première loi de Newton : le principe d'inerti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Première loi de Newton : le principe d'inertie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2 Première loi de Newton : le principe d'inerti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Première loi de Newton : le principe d'inertie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2 Première loi de Newton : le principe d'inerti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Première loi de Newton : le principe d'inertie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2 Première loi de Newton : le principe d'inerti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Première loi de Newton : le principe d'inertie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2 Première loi de Newton : le principe d'inerti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Première loi de Newton : le principe d'inertie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2 Première loi de Newton : le principe d'inerti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Quantité de mouvement</a:t>
            </a:r>
            <a:endParaRPr lang="en-US" sz="2600" dirty="0"/>
          </a:p>
        </p:txBody>
      </p:sp>
      <p:pic>
        <p:nvPicPr>
          <p:cNvPr id="5" name="Image 0" descr="3.3 Quantité de mouve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Quantité de mouvement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3 Quantité de mouve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Quantité de mouvement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3 Quantité de mouve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Quantité de mouvement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3 Quantité de mouve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Quantité de mouvement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3 Quantité de mouve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Deuxième loi de Newton : principe fondamental de la dynamique</a:t>
            </a:r>
            <a:endParaRPr lang="en-US" sz="2600" dirty="0"/>
          </a:p>
        </p:txBody>
      </p:sp>
      <p:pic>
        <p:nvPicPr>
          <p:cNvPr id="5" name="Image 0" descr="3.4 Deuxième loi de Newton : principe fondamental de la dynami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Deuxième loi de Newton : principe fondamental de la dynamique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4 Deuxième loi de Newton : principe fondamental de la dynami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Deuxième loi de Newton : principe fondamental de la dynamique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4 Deuxième loi de Newton : principe fondamental de la dynami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Deuxième loi de Newton : principe fondamental de la dynamique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4 Deuxième loi de Newton : principe fondamental de la dynami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Deuxième loi de Newton : principe fondamental de la dynamique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4 Deuxième loi de Newton : principe fondamental de la dynami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Deuxième loi de Newton : principe fondamental de la dynamique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4 Deuxième loi de Newton : principe fondamental de la dynami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Deuxième loi de Newton : principe fondamental de la dynamique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4 Deuxième loi de Newton : principe fondamental de la dynami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Deuxième loi de Newton : principe fondamental de la dynamique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4 Deuxième loi de Newton : principe fondamental de la dynami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Deuxième loi de Newton : principe fondamental de la dynamique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4 Deuxième loi de Newton : principe fondamental de la dynami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Deuxième loi de Newton : principe fondamental de la dynamique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4 Deuxième loi de Newton : principe fondamental de la dynami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Troisième loi de Newton : principe des actions réciproques</a:t>
            </a:r>
            <a:endParaRPr lang="en-US" sz="2600" dirty="0"/>
          </a:p>
        </p:txBody>
      </p:sp>
      <p:pic>
        <p:nvPicPr>
          <p:cNvPr id="5" name="Image 0" descr="3.5 Troisième loi de Newton : principe des actions réciproqu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Troisième loi de Newton : principe des actions réciproques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5 Troisième loi de Newton : principe des actions réciproqu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Troisième loi de Newton : principe des actions réciproques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5 Troisième loi de Newton : principe des actions réciproqu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Quelques lois de forces</a:t>
            </a:r>
            <a:endParaRPr lang="en-US" sz="2600" dirty="0"/>
          </a:p>
        </p:txBody>
      </p:sp>
      <p:pic>
        <p:nvPicPr>
          <p:cNvPr id="5" name="Image 0" descr="3.6 Quelques lois de forc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Quelques lois de forces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6 Quelques lois de forc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Quelques lois de forces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6 Quelques lois de forc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Quelques lois de forces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6 Quelques lois de forc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Quelques lois de forces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6 Quelques lois de forc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Quelques lois de forces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6 Quelques lois de forc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Quelques lois de forces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6 Quelques lois de forc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Quelques lois de forces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6 Quelques lois de forc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Quelques lois de forces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6 Quelques lois de forc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Forces de frottement</a:t>
            </a:r>
            <a:endParaRPr lang="en-US" sz="2600" dirty="0"/>
          </a:p>
        </p:txBody>
      </p:sp>
      <p:pic>
        <p:nvPicPr>
          <p:cNvPr id="5" name="Image 0" descr="3.7 Forces de frotte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Forces de frottement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7 Forces de frotte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Forces de frottement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7 Forces de frotte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Forces de frottement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7 Forces de frotte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Forces de frottement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7 Forces de frotte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Forces de frottement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7 Forces de frotte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Forces de frottement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7 Forces de frotte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Forces de frottement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7 Forces de frotte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moment cinétique</a:t>
            </a:r>
            <a:endParaRPr lang="en-US" sz="2600" dirty="0"/>
          </a:p>
        </p:txBody>
      </p:sp>
      <p:pic>
        <p:nvPicPr>
          <p:cNvPr id="5" name="Image 0" descr="3.8 Le moment cinéti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moment cinétique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8 Le moment cinéti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moment cinétique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8 Le moment cinéti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moment cinétique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8 Le moment cinéti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moment cinétique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8 Le moment cinéti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3.9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forces centrales</a:t>
            </a:r>
            <a:endParaRPr lang="en-US" sz="2600" dirty="0"/>
          </a:p>
        </p:txBody>
      </p:sp>
      <p:pic>
        <p:nvPicPr>
          <p:cNvPr id="5" name="Image 0" descr="3.9 Les forces centra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3.9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forces centrales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9 Les forces centra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3.9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forces centrales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9 Les forces centra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3.9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forces centrales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9 Les forces centra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3.9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forces centrales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9 Les forces centra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3.9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forces centrales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9 Les forces centra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3.9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forces centrales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9 Les forces centra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3.10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équations différentielles du mouvement</a:t>
            </a:r>
            <a:endParaRPr lang="en-US" sz="2600" dirty="0"/>
          </a:p>
        </p:txBody>
      </p:sp>
      <p:pic>
        <p:nvPicPr>
          <p:cNvPr id="5" name="Image 0" descr="3.10 Les équations différentielles du mouve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62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3.10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équations différentielles du mouvement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10 Les équations différentielles du mouve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3.10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équations différentielles du mouvement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10 Les équations différentielles du mouve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3.10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équations différentielles du mouvement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10 Les équations différentielles du mouve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3.10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équations différentielles du mouvement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10 Les équations différentielles du mouve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66</a:t>
            </a:fld>
            <a:endParaRPr 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3.10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équations différentielles du mouvement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10 Les équations différentielles du mouve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67</a:t>
            </a:fld>
            <a:endParaRPr lang="en-US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3.10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équations différentielles du mouvement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10 Les équations différentielles du mouve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68</a:t>
            </a:fld>
            <a:endParaRPr lang="en-US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3.10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équations différentielles du mouvement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10 Les équations différentielles du mouve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69</a:t>
            </a:fld>
            <a:endParaRPr lang="en-US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3.10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équations différentielles du mouvement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10 Les équations différentielles du mouve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70</a:t>
            </a:fld>
            <a:endParaRPr lang="en-US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3.10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équations différentielles du mouvement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10 Les équations différentielles du mouve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71</a:t>
            </a:fld>
            <a:endParaRPr lang="en-US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3.10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équations différentielles du mouvement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10 Les équations différentielles du mouve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72</a:t>
            </a:fld>
            <a:endParaRPr lang="en-US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3.10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équations différentielles du mouvement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10 Les équations différentielles du mouve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73</a:t>
            </a:fld>
            <a:endParaRPr lang="en-US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3.10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équations différentielles du mouvement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10 Les équations différentielles du mouve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74</a:t>
            </a:fld>
            <a:endParaRPr lang="en-US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L'essentiel du chapitre</a:t>
            </a:r>
            <a:endParaRPr lang="en-US" sz="2600" dirty="0"/>
          </a:p>
        </p:txBody>
      </p:sp>
      <p:pic>
        <p:nvPicPr>
          <p:cNvPr id="5" name="Image 0" descr="3.11 L'essentiel du chapit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75</a:t>
            </a:fld>
            <a:endParaRPr lang="en-US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L'essentiel du chapitre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11 L'essentiel du chapit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76</a:t>
            </a:fld>
            <a:endParaRPr lang="en-US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Exercices d'entraînement</a:t>
            </a:r>
            <a:endParaRPr lang="en-US" sz="2600" dirty="0"/>
          </a:p>
        </p:txBody>
      </p:sp>
      <p:pic>
        <p:nvPicPr>
          <p:cNvPr id="5" name="Image 0" descr="3.12 Exercices d'entraîne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77</a:t>
            </a:fld>
            <a:endParaRPr lang="en-US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Exercices d'entraînement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12 Exercices d'entraîne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78</a:t>
            </a:fld>
            <a:endParaRPr lang="en-US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3.13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Corrigés des exercices</a:t>
            </a:r>
            <a:endParaRPr lang="en-US" sz="2600" dirty="0"/>
          </a:p>
        </p:txBody>
      </p:sp>
      <p:pic>
        <p:nvPicPr>
          <p:cNvPr id="5" name="Image 0" descr="3.13 Corrigés des exercic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79</a:t>
            </a:fld>
            <a:endParaRPr lang="en-US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3.13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Corrigés des exercices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13 Corrigés des exercic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80</a:t>
            </a:fld>
            <a:endParaRPr lang="en-US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3.13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Corrigés des exercices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13 Corrigés des exercic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81</a:t>
            </a:fld>
            <a:endParaRPr lang="en-US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3.13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Corrigés des exercices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13 Corrigés des exercic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82</a:t>
            </a:fld>
            <a:endParaRPr lang="en-US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3291840"/>
            <a:ext cx="292608" cy="91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" name="Shape 1"/>
          <p:cNvSpPr/>
          <p:nvPr/>
        </p:nvSpPr>
        <p:spPr>
          <a:xfrm>
            <a:off x="8595360" y="3794760"/>
            <a:ext cx="278287" cy="9042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" name="Shape 2"/>
          <p:cNvSpPr/>
          <p:nvPr/>
        </p:nvSpPr>
        <p:spPr>
          <a:xfrm>
            <a:off x="8595360" y="4297680"/>
            <a:ext cx="236725" cy="17199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8595360" y="4800600"/>
            <a:ext cx="171991" cy="236725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8595360" y="5303520"/>
            <a:ext cx="90421" cy="278287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8595360" y="5806440"/>
            <a:ext cx="0" cy="292608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 flipH="1">
            <a:off x="8504939" y="6309360"/>
            <a:ext cx="90421" cy="278287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 flipV="1">
            <a:off x="9098280" y="3168179"/>
            <a:ext cx="265193" cy="12366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 flipV="1">
            <a:off x="9098280" y="3759100"/>
            <a:ext cx="290427" cy="3566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9098280" y="4297680"/>
            <a:ext cx="287232" cy="55832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9098280" y="4800600"/>
            <a:ext cx="255921" cy="141859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098280" y="5303520"/>
            <a:ext cx="199558" cy="21400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098280" y="5806440"/>
            <a:ext cx="123661" cy="26519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098280" y="6309360"/>
            <a:ext cx="35660" cy="290427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 flipV="1">
            <a:off x="9601200" y="3067689"/>
            <a:ext cx="188085" cy="22415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 flipV="1">
            <a:off x="9601200" y="3639701"/>
            <a:ext cx="248146" cy="155059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 flipV="1">
            <a:off x="9601200" y="4226892"/>
            <a:ext cx="283916" cy="70788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601200" y="4800600"/>
            <a:ext cx="291895" cy="2041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9601200" y="5303520"/>
            <a:ext cx="271301" cy="10961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601200" y="5806440"/>
            <a:ext cx="224151" cy="188085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9601200" y="6309360"/>
            <a:ext cx="155059" cy="248146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 flipV="1">
            <a:off x="10104120" y="3009202"/>
            <a:ext cx="75733" cy="282638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 flipV="1">
            <a:off x="10104120" y="3549358"/>
            <a:ext cx="159366" cy="245402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 flipV="1">
            <a:off x="10104120" y="4113536"/>
            <a:ext cx="227399" cy="18414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 flipV="1">
            <a:off x="10104120" y="4695739"/>
            <a:ext cx="273173" cy="10486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 flipV="1">
            <a:off x="10104120" y="5288206"/>
            <a:ext cx="292207" cy="1531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10104120" y="5806440"/>
            <a:ext cx="282638" cy="7573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10104120" y="6309360"/>
            <a:ext cx="245402" cy="159366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 flipH="1" flipV="1">
            <a:off x="10556229" y="3003677"/>
            <a:ext cx="50811" cy="28816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 flipV="1">
            <a:off x="10607040" y="3505000"/>
            <a:ext cx="40723" cy="28976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 flipV="1">
            <a:off x="10607040" y="4034686"/>
            <a:ext cx="128271" cy="26299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 flipV="1">
            <a:off x="10607040" y="4590115"/>
            <a:ext cx="203263" cy="210485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 flipV="1">
            <a:off x="10607040" y="5166149"/>
            <a:ext cx="258358" cy="13737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 flipV="1">
            <a:off x="10607040" y="5755629"/>
            <a:ext cx="288163" cy="5081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10607040" y="6309360"/>
            <a:ext cx="289760" cy="4072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 flipH="1" flipV="1">
            <a:off x="10942127" y="3052150"/>
            <a:ext cx="167833" cy="23969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 flipH="1" flipV="1">
            <a:off x="11024410" y="3514938"/>
            <a:ext cx="85550" cy="279822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 flipV="1">
            <a:off x="11109960" y="4005117"/>
            <a:ext cx="5107" cy="29256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 flipV="1">
            <a:off x="11109960" y="4523934"/>
            <a:ext cx="95264" cy="276666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 flipV="1">
            <a:off x="11109960" y="5069833"/>
            <a:ext cx="176096" cy="233687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 flipV="1">
            <a:off x="11109960" y="5638607"/>
            <a:ext cx="239690" cy="16783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 flipV="1">
            <a:off x="11109960" y="6223810"/>
            <a:ext cx="279822" cy="8555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 flipH="1" flipV="1">
            <a:off x="11359474" y="3145536"/>
            <a:ext cx="253406" cy="14630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 flipH="1" flipV="1">
            <a:off x="11417087" y="3577310"/>
            <a:ext cx="195793" cy="21745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 flipH="1" flipV="1">
            <a:off x="11493866" y="4030369"/>
            <a:ext cx="119014" cy="26731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 flipH="1" flipV="1">
            <a:off x="11582294" y="4509595"/>
            <a:ext cx="30586" cy="291005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 flipV="1">
            <a:off x="11612880" y="5017306"/>
            <a:ext cx="60837" cy="28621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 flipV="1">
            <a:off x="11612880" y="5553034"/>
            <a:ext cx="146304" cy="253406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 flipV="1">
            <a:off x="11612880" y="6113567"/>
            <a:ext cx="217450" cy="19579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1" name="Text 49"/>
          <p:cNvSpPr txBox="1"/>
          <p:nvPr/>
        </p:nvSpPr>
        <p:spPr>
          <a:xfrm>
            <a:off x="731520" y="237744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 du chapitre 3</a:t>
            </a:r>
            <a:endParaRPr lang="en-US" sz="4000" dirty="0"/>
          </a:p>
        </p:txBody>
      </p:sp>
      <p:sp>
        <p:nvSpPr>
          <p:cNvPr id="52" name="Text 50"/>
          <p:cNvSpPr txBox="1"/>
          <p:nvPr/>
        </p:nvSpPr>
        <p:spPr>
          <a:xfrm>
            <a:off x="731520" y="32004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D98E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Dynamique du point matériel</a:t>
            </a:r>
            <a:endParaRPr lang="en-US" sz="2400" dirty="0"/>
          </a:p>
        </p:txBody>
      </p:sp>
      <p:sp>
        <p:nvSpPr>
          <p:cNvPr id="53" name="Text 51"/>
          <p:cNvSpPr txBox="1"/>
          <p:nvPr/>
        </p:nvSpPr>
        <p:spPr>
          <a:xfrm>
            <a:off x="731520" y="6126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 Papa Touty TRAORÉ — Université Souleymane Niang de Matam</a:t>
            </a:r>
            <a:endParaRPr lang="en-US" sz="12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3.9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Force centrale et loi des aires — simulation 3D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61</a:t>
            </a:fld>
            <a:endParaRPr lang="en-US"/>
          </a:p>
        </p:txBody>
      </p:sp>
      <p:pic>
        <p:nvPicPr>
          <p:cNvPr id="26" name="sim_central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58572" y="1003154"/>
            <a:ext cx="11274552" cy="516750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6"/>
                </p:tgtEl>
              </p:cMediaNode>
            </p:video>
          </p:childTnLst>
        </p:cTn>
      </p:par>
    </p:tnLst>
  </p:timing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incliné avec frottement — simulation 3D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49</a:t>
            </a:fld>
            <a:endParaRPr lang="en-US"/>
          </a:p>
        </p:txBody>
      </p:sp>
      <p:pic>
        <p:nvPicPr>
          <p:cNvPr id="26" name="sim_plan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58572" y="1003154"/>
            <a:ext cx="11274552" cy="516750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6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83</Slides>
  <Notes>83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83</vt:i4>
      </vt:variant>
    </vt:vector>
  </HeadingPairs>
  <TitlesOfParts>
    <vt:vector size="8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Physique I — Chapitre 3 : Dynamique du point matériel</dc:title>
  <dc:subject>PptxGenJS Presentation</dc:subject>
  <dc:creator>Dr Papa Touty Traoré</dc:creator>
  <cp:lastModifiedBy>Dr Papa Touty Traoré</cp:lastModifiedBy>
  <cp:revision>1</cp:revision>
  <dcterms:created xsi:type="dcterms:W3CDTF">2026-10-10T14:05:54Z</dcterms:created>
  <dcterms:modified xsi:type="dcterms:W3CDTF">2026-10-10T14:05:54Z</dcterms:modified>
</cp:coreProperties>
</file>