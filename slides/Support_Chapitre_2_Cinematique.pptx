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345" r:id="rId96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44" r:id="rId95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</p:sldIdLst>
  <p:notesMasterIdLst>
    <p:notesMasterId r:id="rId9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notesMaster" Target="notesMasters/notesMaster1.xml"/><Relationship Id="rId91" Type="http://schemas.openxmlformats.org/officeDocument/2006/relationships/presProps" Target="presProps.xml"/><Relationship Id="rId92" Type="http://schemas.openxmlformats.org/officeDocument/2006/relationships/viewProps" Target="viewProps.xml"/><Relationship Id="rId93" Type="http://schemas.openxmlformats.org/officeDocument/2006/relationships/theme" Target="theme/theme1.xml"/><Relationship Id="rId94" Type="http://schemas.openxmlformats.org/officeDocument/2006/relationships/tableStyles" Target="tableStyles.xml"/><Relationship Id="rId95" Type="http://schemas.openxmlformats.org/officeDocument/2006/relationships/slide" Target="slides/slide89.xml"/><Relationship Id="rId96" Type="http://schemas.openxmlformats.org/officeDocument/2006/relationships/slide" Target="slides/slide9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7A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Physique I • Chapitre 2 — Cinématique du point matériel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760720" y="64465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Université Souleymane Niang de Matam • Dr P. T. Traoré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2920"/>
            <a:ext cx="822960" cy="91440"/>
          </a:xfrm>
          <a:prstGeom prst="rect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731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UNIVERSITÉ SOULEYMANE NIANG DE MATAM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UFR Sciences • Licence 1 • Physique I : Mécanique du point matériel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 flipV="1">
            <a:off x="1097280" y="3474720"/>
            <a:ext cx="1920240" cy="731520"/>
          </a:xfrm>
          <a:prstGeom prst="line">
            <a:avLst/>
          </a:prstGeom>
          <a:noFill/>
          <a:ln w="38100">
            <a:solidFill>
              <a:srgbClr val="D98E04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 flipV="1">
            <a:off x="1097280" y="2743200"/>
            <a:ext cx="594360" cy="1463040"/>
          </a:xfrm>
          <a:prstGeom prst="line">
            <a:avLst/>
          </a:prstGeom>
          <a:noFill/>
          <a:ln w="38100">
            <a:solidFill>
              <a:srgbClr val="7FB8C4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1097280" y="2057400"/>
            <a:ext cx="2514600" cy="2148840"/>
          </a:xfrm>
          <a:prstGeom prst="line">
            <a:avLst/>
          </a:prstGeom>
          <a:noFill/>
          <a:ln w="44450">
            <a:solidFill>
              <a:srgbClr val="FFFFF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 flipV="1">
            <a:off x="3017520" y="2057400"/>
            <a:ext cx="594360" cy="1417320"/>
          </a:xfrm>
          <a:prstGeom prst="line">
            <a:avLst/>
          </a:prstGeom>
          <a:noFill/>
          <a:ln w="12700">
            <a:solidFill>
              <a:srgbClr val="8C99A8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 flipV="1">
            <a:off x="1691640" y="2057400"/>
            <a:ext cx="1920240" cy="685800"/>
          </a:xfrm>
          <a:prstGeom prst="line">
            <a:avLst/>
          </a:prstGeom>
          <a:noFill/>
          <a:ln w="12700">
            <a:solidFill>
              <a:srgbClr val="8C99A8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8595360" y="3291840"/>
            <a:ext cx="292608" cy="9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595360" y="3794760"/>
            <a:ext cx="278287" cy="9042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595360" y="4297680"/>
            <a:ext cx="236725" cy="17199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595360" y="4800600"/>
            <a:ext cx="171991" cy="23672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595360" y="5303520"/>
            <a:ext cx="90421" cy="2782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595360" y="5806440"/>
            <a:ext cx="0" cy="29260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H="1">
            <a:off x="8504939" y="6309360"/>
            <a:ext cx="90421" cy="2782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V="1">
            <a:off x="9098280" y="3168179"/>
            <a:ext cx="265193" cy="12366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9098280" y="3759100"/>
            <a:ext cx="290427" cy="3566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098280" y="4297680"/>
            <a:ext cx="287232" cy="5583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098280" y="4800600"/>
            <a:ext cx="255921" cy="141859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098280" y="5303520"/>
            <a:ext cx="199558" cy="21400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098280" y="5806440"/>
            <a:ext cx="123661" cy="26519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098280" y="6309360"/>
            <a:ext cx="35660" cy="29042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V="1">
            <a:off x="9601200" y="3067689"/>
            <a:ext cx="188085" cy="22415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V="1">
            <a:off x="9601200" y="3639701"/>
            <a:ext cx="248146" cy="155059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9601200" y="4226892"/>
            <a:ext cx="283916" cy="7078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9601200" y="4800600"/>
            <a:ext cx="291895" cy="204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601200" y="5303520"/>
            <a:ext cx="271301" cy="10961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601200" y="5806440"/>
            <a:ext cx="224151" cy="18808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9601200" y="6309360"/>
            <a:ext cx="155059" cy="24814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 flipV="1">
            <a:off x="10104120" y="3009202"/>
            <a:ext cx="75733" cy="28263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 flipV="1">
            <a:off x="10104120" y="3549358"/>
            <a:ext cx="159366" cy="24540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 flipV="1">
            <a:off x="10104120" y="4113536"/>
            <a:ext cx="227399" cy="18414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10104120" y="4695739"/>
            <a:ext cx="273173" cy="10486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10104120" y="5288206"/>
            <a:ext cx="292207" cy="153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10104120" y="5806440"/>
            <a:ext cx="282638" cy="7573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10104120" y="6309360"/>
            <a:ext cx="245402" cy="15936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 flipH="1" flipV="1">
            <a:off x="10556229" y="3003677"/>
            <a:ext cx="50811" cy="28816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 flipV="1">
            <a:off x="10607040" y="3505000"/>
            <a:ext cx="40723" cy="28976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 flipV="1">
            <a:off x="10607040" y="4034686"/>
            <a:ext cx="128271" cy="26299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 flipV="1">
            <a:off x="10607040" y="4590115"/>
            <a:ext cx="203263" cy="21048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 flipV="1">
            <a:off x="10607040" y="5166149"/>
            <a:ext cx="258358" cy="13737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V="1">
            <a:off x="10607040" y="5755629"/>
            <a:ext cx="288163" cy="508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10607040" y="6309360"/>
            <a:ext cx="289760" cy="4072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 flipH="1" flipV="1">
            <a:off x="10942127" y="3052150"/>
            <a:ext cx="167833" cy="23969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 flipH="1" flipV="1">
            <a:off x="11024410" y="3514938"/>
            <a:ext cx="85550" cy="27982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 flipV="1">
            <a:off x="11109960" y="4005117"/>
            <a:ext cx="5107" cy="29256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 flipV="1">
            <a:off x="11109960" y="4523934"/>
            <a:ext cx="95264" cy="27666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1109960" y="5069833"/>
            <a:ext cx="176096" cy="2336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11109960" y="5638607"/>
            <a:ext cx="239690" cy="16783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 flipV="1">
            <a:off x="11109960" y="6223810"/>
            <a:ext cx="279822" cy="8555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 flipH="1" flipV="1">
            <a:off x="11359474" y="3145536"/>
            <a:ext cx="253406" cy="14630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 flipH="1" flipV="1">
            <a:off x="11417087" y="3577310"/>
            <a:ext cx="195793" cy="21745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 flipH="1" flipV="1">
            <a:off x="11493866" y="4030369"/>
            <a:ext cx="119014" cy="2673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 flipH="1" flipV="1">
            <a:off x="11582294" y="4509595"/>
            <a:ext cx="30586" cy="29100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 flipV="1">
            <a:off x="11612880" y="5017306"/>
            <a:ext cx="60837" cy="2862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 flipV="1">
            <a:off x="11612880" y="5553034"/>
            <a:ext cx="146304" cy="25340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 flipV="1">
            <a:off x="11612880" y="6113567"/>
            <a:ext cx="217450" cy="19579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9" name="Text 57"/>
          <p:cNvSpPr txBox="1"/>
          <p:nvPr/>
        </p:nvSpPr>
        <p:spPr>
          <a:xfrm>
            <a:off x="4572000" y="20116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DE COURS</a:t>
            </a:r>
            <a:endParaRPr lang="en-US" sz="1500" dirty="0"/>
          </a:p>
        </p:txBody>
      </p:sp>
      <p:sp>
        <p:nvSpPr>
          <p:cNvPr id="60" name="Text 58"/>
          <p:cNvSpPr txBox="1"/>
          <p:nvPr/>
        </p:nvSpPr>
        <p:spPr>
          <a:xfrm>
            <a:off x="4572000" y="242316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Chapitre 2</a:t>
            </a:r>
            <a:endParaRPr lang="en-US" sz="2600" dirty="0"/>
          </a:p>
        </p:txBody>
      </p:sp>
      <p:sp>
        <p:nvSpPr>
          <p:cNvPr id="61" name="Text 59"/>
          <p:cNvSpPr txBox="1"/>
          <p:nvPr/>
        </p:nvSpPr>
        <p:spPr>
          <a:xfrm>
            <a:off x="4572000" y="29718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Cinématique du point matériel</a:t>
            </a:r>
            <a:endParaRPr lang="en-US" sz="4000" dirty="0"/>
          </a:p>
        </p:txBody>
      </p:sp>
      <p:sp>
        <p:nvSpPr>
          <p:cNvPr id="62" name="Text 60"/>
          <p:cNvSpPr txBox="1"/>
          <p:nvPr/>
        </p:nvSpPr>
        <p:spPr>
          <a:xfrm>
            <a:off x="4572000" y="43434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 • Démonstrations détaillées • Exemples • Exercices corrigés</a:t>
            </a:r>
            <a:endParaRPr lang="en-US" sz="1400" dirty="0"/>
          </a:p>
        </p:txBody>
      </p:sp>
      <p:sp>
        <p:nvSpPr>
          <p:cNvPr id="63" name="Shape 61"/>
          <p:cNvSpPr/>
          <p:nvPr/>
        </p:nvSpPr>
        <p:spPr>
          <a:xfrm>
            <a:off x="640080" y="498348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26395A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822960" y="4983480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Enseignant-Chercheur</a:t>
            </a:r>
            <a:endParaRPr lang="en-US" sz="11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 Papa Touty TRAORÉ</a:t>
            </a:r>
            <a:endParaRPr lang="en-US" sz="1100" dirty="0"/>
          </a:p>
          <a:p>
            <a:pPr indent="0" marL="0">
              <a:buNone/>
            </a:pPr>
            <a:r>
              <a:rPr lang="en-US" sz="1300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Assistant</a:t>
            </a:r>
            <a:endParaRPr lang="en-US" sz="1100" dirty="0"/>
          </a:p>
        </p:txBody>
      </p:sp>
      <p:sp>
        <p:nvSpPr>
          <p:cNvPr id="65" name="Text 63"/>
          <p:cNvSpPr txBox="1"/>
          <p:nvPr/>
        </p:nvSpPr>
        <p:spPr>
          <a:xfrm>
            <a:off x="64008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Année universitaire 2026 – 2027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CHAPITRE 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Cinématique du point matériel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0332720" y="45720"/>
            <a:ext cx="1463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0" b="1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8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6400800" cy="4206240"/>
          </a:xfrm>
          <a:prstGeom prst="rect">
            <a:avLst/>
          </a:prstGeom>
          <a:solidFill>
            <a:srgbClr val="EEF4F6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28800"/>
            <a:ext cx="6400800" cy="411480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82880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Objectifs du chapitre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77440"/>
            <a:ext cx="60350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Décrire un mouvement : trajectoire, équations horaires, vitesse et accélération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Choisir et définir le système de coordonnées adapté au problème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Établir vitesse et accélération en cartésiennes, Frenet, polaires, cylindriques et sphériques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Appliquer les lois de composition des vitesses et des accélérations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223760" y="1828800"/>
            <a:ext cx="4434840" cy="4206240"/>
          </a:xfrm>
          <a:prstGeom prst="rect">
            <a:avLst/>
          </a:prstGeom>
          <a:solidFill>
            <a:srgbClr val="FDF3E1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23760" y="1828800"/>
            <a:ext cx="4434840" cy="411480"/>
          </a:xfrm>
          <a:prstGeom prst="rect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06640" y="182880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Prérequis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406640" y="2377440"/>
            <a:ext cx="40690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Chapitre 1 : produits scalaire et vectoriel, dérivée d'un vecteur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Dérivées et primitives des fonctions usuelles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Trigonométrie (cos, sin)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▸"/>
            </a:pPr>
            <a:r>
              <a:rPr lang="en-US" sz="15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Dérivation d'une fonction composée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du chapitre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1435608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435608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325880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Référentiel, repère et systèmes de coordonnées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112264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2221992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221992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112264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Mouvement rectiligne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3008376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3008376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2898648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Mouvement curviligne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3685032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3794760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3794760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3685032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cartésiennes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4471416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" y="4581144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4581144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4471416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intrinsèques (base de Frenet)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48640" y="5257800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8368" y="5367528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8368" y="5367528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508760" y="5257800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polaires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217920" y="1325880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7648" y="1435608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27648" y="1435608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178040" y="1325880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cylindriques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217920" y="2112264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27648" y="2221992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27648" y="2221992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178040" y="2112264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sphériques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217920" y="2898648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27648" y="3008376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327648" y="3008376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7178040" y="2898648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Mouvement relatif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217920" y="3685032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327648" y="3794760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327648" y="3794760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2.10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7178040" y="3685032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L'essentiel du chapitre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217920" y="4471416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EEF4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327648" y="4581144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327648" y="4581144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2.11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7178040" y="4471416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Exercices d'entraînement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217920" y="5257800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DF3E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327648" y="5367528"/>
            <a:ext cx="685800" cy="402336"/>
          </a:xfrm>
          <a:prstGeom prst="roundRect">
            <a:avLst>
              <a:gd name="adj" fmla="val 13636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327648" y="5367528"/>
            <a:ext cx="685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2.12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7178040" y="5257800"/>
            <a:ext cx="4343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Corrigés des exercices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Référentiel, repère et systèmes de coordonnées</a:t>
            </a:r>
            <a:endParaRPr lang="en-US" sz="2600" dirty="0"/>
          </a:p>
        </p:txBody>
      </p:sp>
      <p:pic>
        <p:nvPicPr>
          <p:cNvPr id="5" name="Image 0" descr="2.1 Référentiel, repère et systèmes de coordonné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Référentiel, repère et systèmes de coordonnées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1 Référentiel, repère et systèmes de coordonné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Référentiel, repère et systèmes de coordonnées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1 Référentiel, repère et systèmes de coordonné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Référentiel, repère et systèmes de coordonnées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1 Référentiel, repère et systèmes de coordonné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Référentiel, repère et systèmes de coordonnées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1 Référentiel, repère et systèmes de coordonné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Référentiel, repère et systèmes de coordonnées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1 Référentiel, repère et systèmes de coordonné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Référentiel, repère et systèmes de coordonnées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1 Référentiel, repère et systèmes de coordonné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Mouvement rectiligne</a:t>
            </a:r>
            <a:endParaRPr lang="en-US" sz="2600" dirty="0"/>
          </a:p>
        </p:txBody>
      </p:sp>
      <p:pic>
        <p:nvPicPr>
          <p:cNvPr id="5" name="Image 0" descr="2.2 Mouvement rectilig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Mouvement rectiligne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2 Mouvement rectilig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Mouvement rectiligne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2 Mouvement rectilig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Mouvement rectiligne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2 Mouvement rectilig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Mouvement rectiligne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2 Mouvement rectilig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Mouvement rectiligne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2 Mouvement rectilig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Mouvement rectiligne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2 Mouvement rectilig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Mouvement rectiligne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2 Mouvement rectilig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Mouvement rectiligne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2 Mouvement rectilig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Mouvement curviligne</a:t>
            </a:r>
            <a:endParaRPr lang="en-US" sz="2600" dirty="0"/>
          </a:p>
        </p:txBody>
      </p:sp>
      <p:pic>
        <p:nvPicPr>
          <p:cNvPr id="5" name="Image 0" descr="2.3 Mouvement curvilig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Mouvement curviligne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3 Mouvement curvilig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Mouvement curviligne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3 Mouvement curvilig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Mouvement curviligne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3 Mouvement curvilig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cartésiennes</a:t>
            </a:r>
            <a:endParaRPr lang="en-US" sz="2600" dirty="0"/>
          </a:p>
        </p:txBody>
      </p:sp>
      <p:pic>
        <p:nvPicPr>
          <p:cNvPr id="5" name="Image 0" descr="2.4 Coordonnées cartésien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cartésiennes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4 Coordonnées cartésien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cartésiennes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4 Coordonnées cartésien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cartésiennes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4 Coordonnées cartésien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cartésiennes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4 Coordonnées cartésien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intrinsèques (base de Frenet)</a:t>
            </a:r>
            <a:endParaRPr lang="en-US" sz="2600" dirty="0"/>
          </a:p>
        </p:txBody>
      </p:sp>
      <p:pic>
        <p:nvPicPr>
          <p:cNvPr id="5" name="Image 0" descr="2.5 Coordonnées intrinsèques (base de Frenet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intrinsèques (base de Frenet)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5 Coordonnées intrinsèques (base de Frenet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intrinsèques (base de Frenet)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5 Coordonnées intrinsèques (base de Frenet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intrinsèques (base de Frenet)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5 Coordonnées intrinsèques (base de Frenet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intrinsèques (base de Frenet)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5 Coordonnées intrinsèques (base de Frenet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intrinsèques (base de Frenet)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5 Coordonnées intrinsèques (base de Frenet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intrinsèques (base de Frenet)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5 Coordonnées intrinsèques (base de Frenet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intrinsèques (base de Frenet)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5 Coordonnées intrinsèques (base de Frenet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intrinsèques (base de Frenet)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5 Coordonnées intrinsèques (base de Frenet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polaires</a:t>
            </a:r>
            <a:endParaRPr lang="en-US" sz="2600" dirty="0"/>
          </a:p>
        </p:txBody>
      </p:sp>
      <p:pic>
        <p:nvPicPr>
          <p:cNvPr id="5" name="Image 0" descr="2.6 Coordonnées polai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polaires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6 Coordonnées polai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polaires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6 Coordonnées polai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polaires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6 Coordonnées polai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polaires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6 Coordonnées polai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polaires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6 Coordonnées polai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polaires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6 Coordonnées polai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polaires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6 Coordonnées polai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polaires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6 Coordonnées polai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polaires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6 Coordonnées polai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cylindriques</a:t>
            </a:r>
            <a:endParaRPr lang="en-US" sz="2600" dirty="0"/>
          </a:p>
        </p:txBody>
      </p:sp>
      <p:pic>
        <p:nvPicPr>
          <p:cNvPr id="5" name="Image 0" descr="2.7 Coordonnées cylindr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cylindriques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7 Coordonnées cylindr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cylindriques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7 Coordonnées cylindr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cylindriques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7 Coordonnées cylindr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cylindriques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7 Coordonnées cylindr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cylindriques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7 Coordonnées cylindr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cylindriques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7 Coordonnées cylindr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cylindriques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7 Coordonnées cylindr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sphériques</a:t>
            </a:r>
            <a:endParaRPr lang="en-US" sz="2600" dirty="0"/>
          </a:p>
        </p:txBody>
      </p:sp>
      <p:pic>
        <p:nvPicPr>
          <p:cNvPr id="5" name="Image 0" descr="2.8 Coordonnées sphér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sphériques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8 Coordonnées sphér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sphériques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8 Coordonnées sphér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sphériques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8 Coordonnées sphér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sphériques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8 Coordonnées sphér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sphériques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8 Coordonnées sphér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sphériques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8 Coordonnées sphér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sphériques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8 Coordonnées sphér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sphériques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8 Coordonnées sphér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sphériques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8 Coordonnées sphér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sphériques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8 Coordonnées sphér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sphériques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8 Coordonnées sphér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sphériques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8 Coordonnées sphér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sphériques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8 Coordonnées sphér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69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sphériques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8 Coordonnées sphér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70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sphériques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8 Coordonnées sphér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71</a:t>
            </a:fld>
            <a:endParaRPr lang="en-US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Mouvement relatif</a:t>
            </a:r>
            <a:endParaRPr lang="en-US" sz="2600" dirty="0"/>
          </a:p>
        </p:txBody>
      </p:sp>
      <p:pic>
        <p:nvPicPr>
          <p:cNvPr id="5" name="Image 0" descr="2.9 Mouvement rela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72</a:t>
            </a:fld>
            <a:endParaRPr lang="en-US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Mouvement relatif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9 Mouvement rela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73</a:t>
            </a:fld>
            <a:endParaRPr lang="en-US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Mouvement relatif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9 Mouvement rela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74</a:t>
            </a:fld>
            <a:endParaRPr lang="en-US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Mouvement relatif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9 Mouvement rela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75</a:t>
            </a:fld>
            <a:endParaRPr lang="en-US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Mouvement relatif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9 Mouvement rela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76</a:t>
            </a:fld>
            <a:endParaRPr lang="en-US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Mouvement relatif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9 Mouvement rela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77</a:t>
            </a:fld>
            <a:endParaRPr lang="en-US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Mouvement relatif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9 Mouvement rela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78</a:t>
            </a:fld>
            <a:endParaRPr lang="en-US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Mouvement relatif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9 Mouvement rela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79</a:t>
            </a:fld>
            <a:endParaRPr lang="en-US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Mouvement relatif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9 Mouvement rela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80</a:t>
            </a:fld>
            <a:endParaRPr lang="en-US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Mouvement relatif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9 Mouvement rela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81</a:t>
            </a:fld>
            <a:endParaRPr lang="en-US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Mouvement relatif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9 Mouvement rela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82</a:t>
            </a:fld>
            <a:endParaRPr lang="en-US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2.10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L'essentiel du chapitre</a:t>
            </a:r>
            <a:endParaRPr lang="en-US" sz="2600" dirty="0"/>
          </a:p>
        </p:txBody>
      </p:sp>
      <p:pic>
        <p:nvPicPr>
          <p:cNvPr id="5" name="Image 0" descr="2.10 L'essentiel du chapit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83</a:t>
            </a:fld>
            <a:endParaRPr lang="en-US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Exercices d'entraînement</a:t>
            </a:r>
            <a:endParaRPr lang="en-US" sz="2600" dirty="0"/>
          </a:p>
        </p:txBody>
      </p:sp>
      <p:pic>
        <p:nvPicPr>
          <p:cNvPr id="5" name="Image 0" descr="2.11 Exercices d'entraîn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84</a:t>
            </a:fld>
            <a:endParaRPr lang="en-US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Exercices d'entraînement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11 Exercices d'entraîn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85</a:t>
            </a:fld>
            <a:endParaRPr lang="en-US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Corrigés des exercices</a:t>
            </a:r>
            <a:endParaRPr lang="en-US" sz="2600" dirty="0"/>
          </a:p>
        </p:txBody>
      </p:sp>
      <p:pic>
        <p:nvPicPr>
          <p:cNvPr id="5" name="Image 0" descr="2.12 Corrigés des exerci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86</a:t>
            </a:fld>
            <a:endParaRPr lang="en-US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2.12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Corrigés des exercices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(suite)</a:t>
            </a:r>
            <a:endParaRPr lang="en-US" sz="2600" dirty="0"/>
          </a:p>
        </p:txBody>
      </p:sp>
      <p:pic>
        <p:nvPicPr>
          <p:cNvPr id="5" name="Image 0" descr="2.12 Corrigés des exerci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8572" y="932688"/>
            <a:ext cx="11274552" cy="53084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87</a:t>
            </a:fld>
            <a:endParaRPr lang="en-US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3291840"/>
            <a:ext cx="292608" cy="9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" name="Shape 1"/>
          <p:cNvSpPr/>
          <p:nvPr/>
        </p:nvSpPr>
        <p:spPr>
          <a:xfrm>
            <a:off x="8595360" y="3794760"/>
            <a:ext cx="278287" cy="9042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8595360" y="4297680"/>
            <a:ext cx="236725" cy="17199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8595360" y="4800600"/>
            <a:ext cx="171991" cy="23672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8595360" y="5303520"/>
            <a:ext cx="90421" cy="2782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8595360" y="5806440"/>
            <a:ext cx="0" cy="29260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 flipH="1">
            <a:off x="8504939" y="6309360"/>
            <a:ext cx="90421" cy="2782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9098280" y="3168179"/>
            <a:ext cx="265193" cy="12366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 flipV="1">
            <a:off x="9098280" y="3759100"/>
            <a:ext cx="290427" cy="3566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098280" y="4297680"/>
            <a:ext cx="287232" cy="5583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098280" y="4800600"/>
            <a:ext cx="255921" cy="141859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098280" y="5303520"/>
            <a:ext cx="199558" cy="21400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098280" y="5806440"/>
            <a:ext cx="123661" cy="26519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098280" y="6309360"/>
            <a:ext cx="35660" cy="29042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9601200" y="3067689"/>
            <a:ext cx="188085" cy="22415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V="1">
            <a:off x="9601200" y="3639701"/>
            <a:ext cx="248146" cy="155059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9601200" y="4226892"/>
            <a:ext cx="283916" cy="7078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601200" y="4800600"/>
            <a:ext cx="291895" cy="204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601200" y="5303520"/>
            <a:ext cx="271301" cy="10961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601200" y="5806440"/>
            <a:ext cx="224151" cy="18808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601200" y="6309360"/>
            <a:ext cx="155059" cy="24814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 flipV="1">
            <a:off x="10104120" y="3009202"/>
            <a:ext cx="75733" cy="282638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V="1">
            <a:off x="10104120" y="3549358"/>
            <a:ext cx="159366" cy="24540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V="1">
            <a:off x="10104120" y="4113536"/>
            <a:ext cx="227399" cy="18414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10104120" y="4695739"/>
            <a:ext cx="273173" cy="10486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 flipV="1">
            <a:off x="10104120" y="5288206"/>
            <a:ext cx="292207" cy="153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104120" y="5806440"/>
            <a:ext cx="282638" cy="7573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0104120" y="6309360"/>
            <a:ext cx="245402" cy="15936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 flipH="1" flipV="1">
            <a:off x="10556229" y="3003677"/>
            <a:ext cx="50811" cy="28816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 flipV="1">
            <a:off x="10607040" y="3505000"/>
            <a:ext cx="40723" cy="28976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 flipV="1">
            <a:off x="10607040" y="4034686"/>
            <a:ext cx="128271" cy="26299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 flipV="1">
            <a:off x="10607040" y="4590115"/>
            <a:ext cx="203263" cy="21048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10607040" y="5166149"/>
            <a:ext cx="258358" cy="13737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10607040" y="5755629"/>
            <a:ext cx="288163" cy="508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10607040" y="6309360"/>
            <a:ext cx="289760" cy="4072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 flipH="1" flipV="1">
            <a:off x="10942127" y="3052150"/>
            <a:ext cx="167833" cy="23969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 flipH="1" flipV="1">
            <a:off x="11024410" y="3514938"/>
            <a:ext cx="85550" cy="279822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 flipV="1">
            <a:off x="11109960" y="4005117"/>
            <a:ext cx="5107" cy="29256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 flipV="1">
            <a:off x="11109960" y="4523934"/>
            <a:ext cx="95264" cy="27666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 flipV="1">
            <a:off x="11109960" y="5069833"/>
            <a:ext cx="176096" cy="233687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 flipV="1">
            <a:off x="11109960" y="5638607"/>
            <a:ext cx="239690" cy="16783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V="1">
            <a:off x="11109960" y="6223810"/>
            <a:ext cx="279822" cy="8555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 flipH="1" flipV="1">
            <a:off x="11359474" y="3145536"/>
            <a:ext cx="253406" cy="14630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 flipH="1" flipV="1">
            <a:off x="11417087" y="3577310"/>
            <a:ext cx="195793" cy="217450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 flipH="1" flipV="1">
            <a:off x="11493866" y="4030369"/>
            <a:ext cx="119014" cy="267311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 flipH="1" flipV="1">
            <a:off x="11582294" y="4509595"/>
            <a:ext cx="30586" cy="291005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 flipV="1">
            <a:off x="11612880" y="5017306"/>
            <a:ext cx="60837" cy="286214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1612880" y="5553034"/>
            <a:ext cx="146304" cy="253406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11612880" y="6113567"/>
            <a:ext cx="217450" cy="195793"/>
          </a:xfrm>
          <a:prstGeom prst="line">
            <a:avLst/>
          </a:prstGeom>
          <a:noFill/>
          <a:ln w="12700">
            <a:solidFill>
              <a:srgbClr val="1F7A8C">
                <a:alpha val="22000"/>
              </a:srgbClr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731520" y="23774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 du chapitre 2</a:t>
            </a:r>
            <a:endParaRPr lang="en-US" sz="4000" dirty="0"/>
          </a:p>
        </p:txBody>
      </p:sp>
      <p:sp>
        <p:nvSpPr>
          <p:cNvPr id="52" name="Text 50"/>
          <p:cNvSpPr txBox="1"/>
          <p:nvPr/>
        </p:nvSpPr>
        <p:spPr>
          <a:xfrm>
            <a:off x="731520" y="32004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98E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Cinématique du point matériel</a:t>
            </a:r>
            <a:endParaRPr lang="en-US" sz="2400" dirty="0"/>
          </a:p>
        </p:txBody>
      </p:sp>
      <p:sp>
        <p:nvSpPr>
          <p:cNvPr id="53" name="Text 51"/>
          <p:cNvSpPr txBox="1"/>
          <p:nvPr/>
        </p:nvSpPr>
        <p:spPr>
          <a:xfrm>
            <a:off x="731520" y="6126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3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 Papa Touty TRAORÉ — Université Souleymane Niang de Matam</a:t>
            </a:r>
            <a:endParaRPr lang="en-US" sz="12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Coordonnées cylindriques — simulation 3D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55</a:t>
            </a:fld>
            <a:endParaRPr lang="en-US"/>
          </a:p>
        </p:txBody>
      </p:sp>
      <p:pic>
        <p:nvPicPr>
          <p:cNvPr id="26" name="sim_cylindr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58572" y="1003154"/>
            <a:ext cx="11274552" cy="516750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6"/>
                </p:tgtEl>
              </p:cMediaNode>
            </p:video>
          </p:childTnLst>
        </p:cTn>
      </p:par>
    </p:tnLst>
  </p:timing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57200" y="292608"/>
            <a:ext cx="868680" cy="457200"/>
          </a:xfrm>
          <a:prstGeom prst="roundRect">
            <a:avLst>
              <a:gd name="adj" fmla="val 14000"/>
            </a:avLst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24688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de Frenet — simulation 3D</a:t>
            </a:r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B2A41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37</a:t>
            </a:fld>
            <a:endParaRPr lang="en-US"/>
          </a:p>
        </p:txBody>
      </p:sp>
      <p:pic>
        <p:nvPicPr>
          <p:cNvPr id="26" name="sim_frene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58572" y="1003154"/>
            <a:ext cx="11274552" cy="516750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6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88</Slides>
  <Notes>88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88</vt:i4>
      </vt:variant>
    </vt:vector>
  </HeadingPairs>
  <TitlesOfParts>
    <vt:vector size="9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Physique I — Chapitre 2 : Cinématique du point matériel</dc:title>
  <dc:subject>PptxGenJS Presentation</dc:subject>
  <dc:creator>Dr Papa Touty Traoré</dc:creator>
  <cp:lastModifiedBy>Dr Papa Touty Traoré</cp:lastModifiedBy>
  <cp:revision>1</cp:revision>
  <dcterms:created xsi:type="dcterms:W3CDTF">2026-10-10T12:53:17Z</dcterms:created>
  <dcterms:modified xsi:type="dcterms:W3CDTF">2026-10-10T12:53:17Z</dcterms:modified>
</cp:coreProperties>
</file>