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</p:sldIdLst>
  <p:notesMasterIdLst>
    <p:notesMasterId r:id="rId9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Physique I • Chapitre 2 — Cinématique du point matériel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0" y="6446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 • Dr P. T. Traoré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822960" cy="9144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731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SOULEYMANE NIANG DE MATAM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UFR Sciences • Licence 1 • Physique I : Mécanique du point matériel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 flipV="1">
            <a:off x="1097280" y="3474720"/>
            <a:ext cx="1920240" cy="731520"/>
          </a:xfrm>
          <a:prstGeom prst="line">
            <a:avLst/>
          </a:prstGeom>
          <a:noFill/>
          <a:ln w="38100">
            <a:solidFill>
              <a:srgbClr val="D98E0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1097280" y="2743200"/>
            <a:ext cx="594360" cy="1463040"/>
          </a:xfrm>
          <a:prstGeom prst="line">
            <a:avLst/>
          </a:prstGeom>
          <a:noFill/>
          <a:ln w="38100">
            <a:solidFill>
              <a:srgbClr val="7FB8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1097280" y="2057400"/>
            <a:ext cx="2514600" cy="2148840"/>
          </a:xfrm>
          <a:prstGeom prst="line">
            <a:avLst/>
          </a:prstGeom>
          <a:noFill/>
          <a:ln w="4445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017520" y="2057400"/>
            <a:ext cx="594360" cy="1417320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1691640" y="2057400"/>
            <a:ext cx="1920240" cy="685800"/>
          </a:xfrm>
          <a:prstGeom prst="line">
            <a:avLst/>
          </a:prstGeom>
          <a:noFill/>
          <a:ln w="12700">
            <a:solidFill>
              <a:srgbClr val="8C99A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4572000" y="2011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DE COURS</a:t>
            </a:r>
            <a:endParaRPr lang="en-US" sz="1500" dirty="0"/>
          </a:p>
        </p:txBody>
      </p:sp>
      <p:sp>
        <p:nvSpPr>
          <p:cNvPr id="60" name="Text 58"/>
          <p:cNvSpPr txBox="1"/>
          <p:nvPr/>
        </p:nvSpPr>
        <p:spPr>
          <a:xfrm>
            <a:off x="4572000" y="24231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</a:t>
            </a:r>
            <a:endParaRPr lang="en-US" sz="2600" dirty="0"/>
          </a:p>
        </p:txBody>
      </p:sp>
      <p:sp>
        <p:nvSpPr>
          <p:cNvPr id="61" name="Text 59"/>
          <p:cNvSpPr txBox="1"/>
          <p:nvPr/>
        </p:nvSpPr>
        <p:spPr>
          <a:xfrm>
            <a:off x="457200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Cinématique du point matériel</a:t>
            </a:r>
            <a:endParaRPr lang="en-US" sz="4000" dirty="0"/>
          </a:p>
        </p:txBody>
      </p:sp>
      <p:sp>
        <p:nvSpPr>
          <p:cNvPr id="62" name="Text 60"/>
          <p:cNvSpPr txBox="1"/>
          <p:nvPr/>
        </p:nvSpPr>
        <p:spPr>
          <a:xfrm>
            <a:off x="4572000" y="43434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• Démonstrations détaillées • Exemples • Exercices corrigés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640080" y="4983480"/>
            <a:ext cx="4206240" cy="1051560"/>
          </a:xfrm>
          <a:prstGeom prst="roundRect">
            <a:avLst>
              <a:gd name="adj" fmla="val 6957"/>
            </a:avLst>
          </a:prstGeom>
          <a:solidFill>
            <a:srgbClr val="26395A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822960" y="498348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Enseignant-Chercheur</a:t>
            </a:r>
            <a:endParaRPr lang="en-US" sz="11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2026 – 2027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Cinématique du point matériel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0332720" y="457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400800" cy="4206240"/>
          </a:xfrm>
          <a:prstGeom prst="rect">
            <a:avLst/>
          </a:prstGeom>
          <a:solidFill>
            <a:srgbClr val="EEF4F6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6400800" cy="4114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du chapitre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377440"/>
            <a:ext cx="60350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Décrire un mouvement : trajectoire, équations horaires, vitesse et accélération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Choisir et définir le système de coordonnées adapté au problème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Établir vitesse et accélération en cartésiennes, Frenet, polaires, cylindriques et sphériques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Appliquer les lois de composition des vitesses et des accélérations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23760" y="1828800"/>
            <a:ext cx="4434840" cy="4206240"/>
          </a:xfrm>
          <a:prstGeom prst="rect">
            <a:avLst/>
          </a:prstGeom>
          <a:solidFill>
            <a:srgbClr val="FDF3E1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23760" y="1828800"/>
            <a:ext cx="4434840" cy="411480"/>
          </a:xfrm>
          <a:prstGeom prst="rect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0" y="18288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Prérequis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377440"/>
            <a:ext cx="40690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Chapitre 1 : produits scalaire et vectoriel, dérivée d'un vecteur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Dérivées et primitives des fonctions usuelles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Trigonométrie (cos, sin)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5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Dérivation d'une fonction composée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chapitre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43560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43560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32588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Référentiel, repère et systèmes de coordonnées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1226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22199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" y="22219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112264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300837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300837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89864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curviligne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68503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79476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79476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68503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cartésiennes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47141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" y="458114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" y="458114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471416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" y="536752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536752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525780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17920" y="132588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27648" y="143560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143560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132588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7920" y="2112264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7648" y="222199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27648" y="222199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2112264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2898648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27648" y="300837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27648" y="300837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178040" y="2898648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17920" y="3685032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27648" y="379476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27648" y="379476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2.10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3685032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17920" y="4471416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EEF4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458114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27648" y="458114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2.11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178040" y="4471416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17920" y="5257800"/>
            <a:ext cx="5394960" cy="621792"/>
          </a:xfrm>
          <a:prstGeom prst="roundRect">
            <a:avLst>
              <a:gd name="adj" fmla="val 8824"/>
            </a:avLst>
          </a:prstGeom>
          <a:solidFill>
            <a:srgbClr val="FDF3E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27648" y="536752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27648" y="536752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2.12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5257800"/>
            <a:ext cx="4343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Référentiel, repère et systèmes de coordonnées</a:t>
            </a:r>
            <a:endParaRPr lang="en-US" sz="2600" dirty="0"/>
          </a:p>
        </p:txBody>
      </p:sp>
      <p:pic>
        <p:nvPicPr>
          <p:cNvPr id="5" name="Image 0" descr="2.1 Référentiel, repère et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Référentiel, repère et systèmes de coordonnées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Référentiel, repère et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Référentiel, repère et systèmes de coordonnées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Référentiel, repère et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Référentiel, repère et systèmes de coordonnées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Référentiel, repère et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Référentiel, repère et systèmes de coordonnées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Référentiel, repère et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Référentiel, repère et systèmes de coordonnées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Référentiel, repère et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Référentiel, repère et systèmes de coordonnées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 Référentiel, repère et systèmes de coordonné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rectiligne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2 Mouvement rect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curviligne</a:t>
            </a:r>
            <a:endParaRPr lang="en-US" sz="2600" dirty="0"/>
          </a:p>
        </p:txBody>
      </p:sp>
      <p:pic>
        <p:nvPicPr>
          <p:cNvPr id="5" name="Image 0" descr="2.3 Mouvement curv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curviligne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3 Mouvement curv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curviligne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3 Mouvement curv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curviligne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3 Mouvement curvilig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cartésiennes</a:t>
            </a:r>
            <a:endParaRPr lang="en-US" sz="2600" dirty="0"/>
          </a:p>
        </p:txBody>
      </p:sp>
      <p:pic>
        <p:nvPicPr>
          <p:cNvPr id="5" name="Image 0" descr="2.4 Coordonnées cartésien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cartésiennes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4 Coordonnées cartésien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cartésiennes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4 Coordonnées cartésien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cartésiennes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4 Coordonnées cartésien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cartésiennes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4 Coordonnées cartésienn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intrinsèques (base de Frenet)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5 Coordonnées intrinsèques (base de Frenet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polaires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6 Coordonnées polai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endParaRPr lang="en-US" sz="2600" dirty="0"/>
          </a:p>
        </p:txBody>
      </p:sp>
      <p:pic>
        <p:nvPicPr>
          <p:cNvPr id="5" name="Image 0" descr="2.7 Coordonnées cylind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Coordonnées cylind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Coordonnées cylind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Coordonnées cylind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Coordonnées cylind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Coordonnées cylind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Coordonnées cylind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cylindriques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7 Coordonnées cylind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sphériques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8 Coordonnées sphériqu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Mouvement relatif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9 Mouvement rela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2.10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L'essentiel du chapitre</a:t>
            </a:r>
            <a:endParaRPr lang="en-US" sz="2600" dirty="0"/>
          </a:p>
        </p:txBody>
      </p:sp>
      <p:pic>
        <p:nvPicPr>
          <p:cNvPr id="5" name="Image 0" descr="2.10 L'essentiel du chapit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endParaRPr lang="en-US" sz="2600" dirty="0"/>
          </a:p>
        </p:txBody>
      </p:sp>
      <p:pic>
        <p:nvPicPr>
          <p:cNvPr id="5" name="Image 0" descr="2.11 Exercices d'entraîn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Exercices d'entraînement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1 Exercices d'entraîn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endParaRPr lang="en-US" sz="2600" dirty="0"/>
          </a:p>
        </p:txBody>
      </p:sp>
      <p:pic>
        <p:nvPicPr>
          <p:cNvPr id="5" name="Image 0" descr="2.12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68680" cy="457200"/>
          </a:xfrm>
          <a:prstGeom prst="roundRect">
            <a:avLst>
              <a:gd name="adj" fmla="val 14000"/>
            </a:avLst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24688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Corrigés des exercices</a:t>
            </a:r>
            <a:pPr indent="0" marL="0">
              <a:buNone/>
            </a:pPr>
            <a:r>
              <a:rPr lang="en-US" sz="16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(suite)</a:t>
            </a:r>
            <a:endParaRPr lang="en-US" sz="2600" dirty="0"/>
          </a:p>
        </p:txBody>
      </p:sp>
      <p:pic>
        <p:nvPicPr>
          <p:cNvPr id="5" name="Image 0" descr="2.12 Corrigés des exerci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8572" y="932688"/>
            <a:ext cx="11274552" cy="53084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1B2A41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3291840"/>
            <a:ext cx="292608" cy="9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8595360" y="3794760"/>
            <a:ext cx="278287" cy="9042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8595360" y="4297680"/>
            <a:ext cx="236725" cy="17199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8595360" y="4800600"/>
            <a:ext cx="171991" cy="23672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95360" y="530352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595360" y="5806440"/>
            <a:ext cx="0" cy="29260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8504939" y="6309360"/>
            <a:ext cx="90421" cy="2782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9098280" y="3168179"/>
            <a:ext cx="265193" cy="1236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9098280" y="3759100"/>
            <a:ext cx="290427" cy="356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98280" y="4297680"/>
            <a:ext cx="287232" cy="5583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098280" y="4800600"/>
            <a:ext cx="255921" cy="1418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98280" y="5303520"/>
            <a:ext cx="199558" cy="21400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098280" y="5806440"/>
            <a:ext cx="123661" cy="2651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6309360"/>
            <a:ext cx="35660" cy="29042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9601200" y="3067689"/>
            <a:ext cx="188085" cy="22415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9601200" y="3639701"/>
            <a:ext cx="248146" cy="155059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601200" y="4226892"/>
            <a:ext cx="283916" cy="7078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4800600"/>
            <a:ext cx="291895" cy="204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601200" y="5303520"/>
            <a:ext cx="271301" cy="10961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601200" y="5806440"/>
            <a:ext cx="224151" cy="1880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01200" y="6309360"/>
            <a:ext cx="155059" cy="24814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0104120" y="3009202"/>
            <a:ext cx="75733" cy="282638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10104120" y="3549358"/>
            <a:ext cx="159366" cy="24540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10104120" y="4113536"/>
            <a:ext cx="227399" cy="18414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10104120" y="4695739"/>
            <a:ext cx="273173" cy="10486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10104120" y="5288206"/>
            <a:ext cx="292207" cy="153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104120" y="5806440"/>
            <a:ext cx="282638" cy="757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04120" y="6309360"/>
            <a:ext cx="245402" cy="1593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H="1" flipV="1">
            <a:off x="10556229" y="3003677"/>
            <a:ext cx="50811" cy="2881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 flipV="1">
            <a:off x="10607040" y="3505000"/>
            <a:ext cx="40723" cy="28976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10607040" y="4034686"/>
            <a:ext cx="128271" cy="26299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10607040" y="4590115"/>
            <a:ext cx="203263" cy="21048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0607040" y="5166149"/>
            <a:ext cx="258358" cy="13737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607040" y="5755629"/>
            <a:ext cx="288163" cy="508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07040" y="6309360"/>
            <a:ext cx="289760" cy="4072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 flipH="1" flipV="1">
            <a:off x="10942127" y="3052150"/>
            <a:ext cx="167833" cy="23969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 flipH="1" flipV="1">
            <a:off x="11024410" y="3514938"/>
            <a:ext cx="85550" cy="279822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11109960" y="4005117"/>
            <a:ext cx="5107" cy="29256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 flipV="1">
            <a:off x="11109960" y="4523934"/>
            <a:ext cx="95264" cy="27666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V="1">
            <a:off x="11109960" y="5069833"/>
            <a:ext cx="176096" cy="233687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11109960" y="5638607"/>
            <a:ext cx="239690" cy="16783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11109960" y="6223810"/>
            <a:ext cx="279822" cy="855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1359474" y="3145536"/>
            <a:ext cx="253406" cy="14630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 flipV="1">
            <a:off x="11417087" y="3577310"/>
            <a:ext cx="195793" cy="217450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 flipV="1">
            <a:off x="11493866" y="4030369"/>
            <a:ext cx="119014" cy="267311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 flipH="1" flipV="1">
            <a:off x="11582294" y="4509595"/>
            <a:ext cx="30586" cy="291005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V="1">
            <a:off x="11612880" y="5017306"/>
            <a:ext cx="60837" cy="286214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1612880" y="5553034"/>
            <a:ext cx="146304" cy="253406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1612880" y="6113567"/>
            <a:ext cx="217450" cy="195793"/>
          </a:xfrm>
          <a:prstGeom prst="line">
            <a:avLst/>
          </a:prstGeom>
          <a:noFill/>
          <a:ln w="12700">
            <a:solidFill>
              <a:srgbClr val="1F7A8C">
                <a:alpha val="22000"/>
              </a:srgbClr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731520" y="23774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du chapitre 2</a:t>
            </a:r>
            <a:endParaRPr lang="en-US" sz="4000" dirty="0"/>
          </a:p>
        </p:txBody>
      </p:sp>
      <p:sp>
        <p:nvSpPr>
          <p:cNvPr id="52" name="Text 50"/>
          <p:cNvSpPr txBox="1"/>
          <p:nvPr/>
        </p:nvSpPr>
        <p:spPr>
          <a:xfrm>
            <a:off x="731520" y="32004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D98E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Cinématique du point matériel</a:t>
            </a:r>
            <a:endParaRPr lang="en-US" sz="2400" dirty="0"/>
          </a:p>
        </p:txBody>
      </p:sp>
      <p:sp>
        <p:nvSpPr>
          <p:cNvPr id="53" name="Text 51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 Papa Touty TRAORÉ — Université Souleymane Niang de Matam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88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Physique I — Chapitre 2 : Cinématique du point matériel</dc:title>
  <dc:subject>PptxGenJS Presentation</dc:subject>
  <dc:creator>Dr Papa Touty Traoré</dc:creator>
  <cp:lastModifiedBy>Dr Papa Touty Traoré</cp:lastModifiedBy>
  <cp:revision>1</cp:revision>
  <dcterms:created xsi:type="dcterms:W3CDTF">2026-10-10T12:53:17Z</dcterms:created>
  <dcterms:modified xsi:type="dcterms:W3CDTF">2026-10-10T12:53:17Z</dcterms:modified>
</cp:coreProperties>
</file>